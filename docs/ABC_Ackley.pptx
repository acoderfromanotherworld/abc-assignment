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2012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task: we use the Artificial Bee Colony (ABC) algorithm to find the global minimum of the 2D Ackley function. About 8 minutes in total.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Ackley function is the fitness function. Recommended parameters a=20, b=0.2, c=2π. The global minimum is 0 at (0,0), and the search domain is -5 to 5 for both variables. The surface is full of local minima, so a method that only goes downhill gets stuck.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ABC was defined by Karaboga in 2005, inspired by how honey bees forage. A swarm-based metaheuristic with three kinds of bees. In our problem a food source is a point [x1, x2] and the nectar quality is its fitness from the Ackley function.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from the lecture slides. Step 1 sets parameters. Step 2 creates the initial food sources and evaluates them. Step 3 is the loop: employed bees, onlooker bees, scout bees, then memorize the best solution. Step 4 stops. The next slides go through each step.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parameters from the lecture: swarm size, employed bees at 50 percent, onlookers at 50 percent, scouts, limit, and dimension. We use a swarm of 100, so 50 employed bees and 50 onlookers, one scout, limit 20, two dimensions. Each of the 50 food sources starts at a random point in the range using the initialization equation, and its fitness is calculated.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Employed bees: each bee evolves its own solution into a neighbour v by changing one dimension j using a random partner k and a random factor phi between minus one and one, then keeps whichever of x and v has the better value. Onlookers: each source gets a probability proportional to its fitness, and a roulette wheel decides which source each onlooker visits. Because we minimize, fitness is 1 over 1 plus f, so lower Ackley values get bigger slices. The chosen source is evolved the same way as in the employed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Scout phase: if a position cannot be improved for the limit number of cycles, here 20, that food source is abandoned and replaced by a random one using the same equation as initialization. This keeps exploring the search space. After each cycle the best solution is memorized. We stop after 100 cycles or when the best value is within 1e-6 of zero.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food source on the Ackley surface; the orange diamond is the best one and the white star is the true minimum. At cycle 0 the sources are random. By cycle 8 they gather near the middle, and by cycle 25 the best value is about 0.00013. The generate_detailed_report script saves one plot and one table for every cycle if the instructor wants to see any single iteration.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recommended settings and seed 42, the best value falls from 4.3 in the first cycle to below 1e-6 at cycle 52, and the best solution is x1 and x2 equal to zero. The mean value of the food sources also falls, which shows the whole swarm is converging, not just the best bee.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asks for a classical algorithm and for runs with about 20 and 25 iterations. ABC at 20 cycles is already at 0.0005 and at 25 cycles at 0.00013. The classical Nelder-Mead method started at (4, -4) gets stuck at about 11 because it only follows the local slope.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that the result is not luck, we ran ABC with 30 different random seeds and the same settings. All 30 runs reached the stop threshold within 32 to 52 cycles, and the worst final value was below 1e-6.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ABC found the global minimum of the Ackley function with a swarm of 50 employed and 50 onlooker bees. It has few parameters, converges quickly and balances exploration through scouts with exploitation through employed and onlooker bees. A limitation from the lecture is that the search space depends on the initial solutions. Applications include mechanical design such as welded beams and coil springs, digital filters, fuzzy control, clustering, and robot control. Thank you,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5E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30820"/>
          </a:xfrm>
          <a:prstGeom prst="rect">
            <a:avLst/>
          </a:prstGeom>
          <a:noFill/>
          <a:ln/>
        </p:spPr>
        <p:txBody>
          <a:bodyPr wrap="square" lIns="0" tIns="0" rIns="0" bIns="0" rtlCol="0" anchor="t"/>
          <a:lstStyle>
            <a:lvl1pPr marL="0" indent="0" algn="l">
              <a:lnSpc>
                <a:spcPct val="115000"/>
              </a:lnSpc>
              <a:buNone/>
              <a:defRPr lang="en-US" sz="3800" dirty="0">
                <a:solidFill>
                  <a:srgbClr val="1C1A16"/>
                </a:solidFill>
                <a:latin typeface="Oswald" pitchFamily="34" charset="0"/>
                <a:ea typeface="Oswald" pitchFamily="34" charset="-122"/>
                <a:cs typeface="Oswald"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1973511"/>
            <a:ext cx="10566400" cy="4071689"/>
          </a:xfrm>
          <a:prstGeom prst="rect">
            <a:avLst/>
          </a:prstGeom>
          <a:noFill/>
          <a:ln/>
        </p:spPr>
        <p:txBody>
          <a:bodyPr wrap="square" lIns="0" tIns="0" rIns="0" bIns="0" rtlCol="0" anchor="t"/>
          <a:lstStyle>
            <a:lvl1pPr marL="0" indent="0" algn="l">
              <a:lnSpc>
                <a:spcPct val="140000"/>
              </a:lnSpc>
              <a:buNone/>
              <a:defRPr lang="en-US" sz="1600" dirty="0">
                <a:solidFill>
                  <a:srgbClr val="1C1A16"/>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5E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30820"/>
          </a:xfrm>
          <a:prstGeom prst="rect">
            <a:avLst/>
          </a:prstGeom>
          <a:noFill/>
          <a:ln/>
        </p:spPr>
        <p:txBody>
          <a:bodyPr wrap="square" lIns="0" tIns="0" rIns="0" bIns="0" rtlCol="0" anchor="t"/>
          <a:lstStyle>
            <a:lvl1pPr marL="0" indent="0" algn="l">
              <a:lnSpc>
                <a:spcPct val="115000"/>
              </a:lnSpc>
              <a:buNone/>
              <a:defRPr lang="en-US" sz="3800" dirty="0">
                <a:solidFill>
                  <a:srgbClr val="1C1A16"/>
                </a:solidFill>
                <a:latin typeface="Oswald" pitchFamily="34" charset="0"/>
                <a:ea typeface="Oswald" pitchFamily="34" charset="-122"/>
                <a:cs typeface="Oswald"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1973511"/>
            <a:ext cx="10566400" cy="4071689"/>
          </a:xfrm>
          <a:prstGeom prst="rect">
            <a:avLst/>
          </a:prstGeom>
          <a:noFill/>
          <a:ln/>
        </p:spPr>
        <p:txBody>
          <a:bodyPr wrap="square" lIns="0" tIns="0" rIns="0" bIns="0" rtlCol="0" anchor="t"/>
          <a:lstStyle>
            <a:lvl1pPr marL="0" indent="0" algn="l">
              <a:lnSpc>
                <a:spcPct val="140000"/>
              </a:lnSpc>
              <a:buNone/>
              <a:defRPr lang="en-US" sz="1600" dirty="0">
                <a:solidFill>
                  <a:srgbClr val="1C1A16"/>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A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2B632"/>
                </a:solidFill>
                <a:latin typeface="Public Sans" pitchFamily="34" charset="0"/>
                <a:ea typeface="Public Sans" pitchFamily="34" charset="-122"/>
                <a:cs typeface="Public Sans" pitchFamily="34" charset="-120"/>
              </a:rPr>
              <a:t>MACHINE LEARNING · ASSIGNMENT</a:t>
            </a:r>
            <a:endParaRPr lang="en-US" sz="1400" dirty="0"/>
          </a:p>
        </p:txBody>
      </p:sp>
      <p:sp>
        <p:nvSpPr>
          <p:cNvPr id="3" name="Text 1"/>
          <p:cNvSpPr>
            <a:spLocks noGrp="1"/>
          </p:cNvSpPr>
          <p:nvPr>
            <p:ph type="title"/>
          </p:nvPr>
        </p:nvSpPr>
        <p:spPr>
          <a:xfrm>
            <a:off x="812800" y="2397770"/>
            <a:ext cx="10883392" cy="1198860"/>
          </a:xfrm>
          <a:prstGeom prst="rect">
            <a:avLst/>
          </a:prstGeom>
          <a:noFill/>
          <a:ln/>
        </p:spPr>
        <p:txBody>
          <a:bodyPr wrap="square" lIns="0" tIns="0" rIns="0" bIns="0" rtlCol="0" anchor="t">
            <a:normAutofit/>
          </a:bodyPr>
          <a:lstStyle/>
          <a:p>
            <a:pPr marL="0" indent="0" algn="l">
              <a:lnSpc>
                <a:spcPts val="9240"/>
              </a:lnSpc>
              <a:buNone/>
            </a:pPr>
            <a:r>
              <a:rPr lang="en-US" sz="8800" b="1" i="0" dirty="0">
                <a:solidFill>
                  <a:srgbClr val="FAF5E8"/>
                </a:solidFill>
                <a:latin typeface="Oswald" pitchFamily="34" charset="0"/>
                <a:ea typeface="Oswald" pitchFamily="34" charset="-122"/>
                <a:cs typeface="Oswald" pitchFamily="34" charset="-120"/>
              </a:rPr>
              <a:t>Artificial Bee Colony</a:t>
            </a:r>
            <a:endParaRPr lang="en-US" sz="8800" dirty="0"/>
          </a:p>
        </p:txBody>
      </p:sp>
      <p:pic>
        <p:nvPicPr>
          <p:cNvPr id="4" name="Image 0" descr="line"/>
          <p:cNvPicPr>
            <a:picLocks noChangeAspect="1"/>
          </p:cNvPicPr>
          <p:nvPr/>
        </p:nvPicPr>
        <p:blipFill>
          <a:blip r:embed="rId3"/>
          <a:srcRect/>
          <a:stretch/>
        </p:blipFill>
        <p:spPr>
          <a:xfrm>
            <a:off x="812800" y="3774430"/>
            <a:ext cx="1524000" cy="50800"/>
          </a:xfrm>
          <a:prstGeom prst="rect">
            <a:avLst/>
          </a:prstGeom>
        </p:spPr>
      </p:pic>
      <p:sp>
        <p:nvSpPr>
          <p:cNvPr id="5" name="Text 2"/>
          <p:cNvSpPr/>
          <p:nvPr/>
        </p:nvSpPr>
        <p:spPr>
          <a:xfrm>
            <a:off x="812800" y="4028430"/>
            <a:ext cx="10883392" cy="421630"/>
          </a:xfrm>
          <a:prstGeom prst="rect">
            <a:avLst/>
          </a:prstGeom>
          <a:noFill/>
          <a:ln/>
        </p:spPr>
        <p:txBody>
          <a:bodyPr wrap="square" lIns="0" tIns="0" rIns="0" bIns="0" rtlCol="0" anchor="t">
            <a:normAutofit/>
          </a:bodyPr>
          <a:lstStyle/>
          <a:p>
            <a:pPr marL="0" indent="0" algn="l">
              <a:lnSpc>
                <a:spcPts val="3120"/>
              </a:lnSpc>
              <a:buNone/>
            </a:pPr>
            <a:r>
              <a:rPr lang="en-US" sz="2400" dirty="0">
                <a:solidFill>
                  <a:srgbClr val="CFC6AE"/>
                </a:solidFill>
                <a:latin typeface="Public Sans" pitchFamily="34" charset="0"/>
                <a:ea typeface="Public Sans" pitchFamily="34" charset="-122"/>
                <a:cs typeface="Public Sans" pitchFamily="34" charset="-120"/>
              </a:rPr>
              <a:t>Finding the global minimum of the 2D Ackley function</a:t>
            </a:r>
            <a:endParaRPr lang="en-US" sz="2400" dirty="0"/>
          </a:p>
        </p:txBody>
      </p:sp>
      <p:sp>
        <p:nvSpPr>
          <p:cNvPr id="6" name="Text 3"/>
          <p:cNvSpPr/>
          <p:nvPr/>
        </p:nvSpPr>
        <p:spPr>
          <a:xfrm>
            <a:off x="812800" y="576074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FC6AE"/>
                </a:solidFill>
                <a:latin typeface="Public Sans" pitchFamily="34" charset="0"/>
                <a:ea typeface="Public Sans" pitchFamily="34" charset="-122"/>
                <a:cs typeface="Public Sans" pitchFamily="34" charset="-120"/>
              </a:rPr>
              <a:t>[Group name · member names]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8A5A00"/>
                </a:solidFill>
                <a:latin typeface="Public Sans" pitchFamily="34" charset="0"/>
                <a:ea typeface="Public Sans" pitchFamily="34" charset="-122"/>
                <a:cs typeface="Public Sans" pitchFamily="34" charset="-120"/>
              </a:rPr>
              <a:t>THE PROBLEM</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C1A16"/>
                </a:solidFill>
                <a:latin typeface="Oswald" pitchFamily="34" charset="0"/>
                <a:ea typeface="Oswald" pitchFamily="34" charset="-122"/>
                <a:cs typeface="Oswald" pitchFamily="34" charset="-120"/>
              </a:rPr>
              <a:t>Minimize the 2D Ackley function</a:t>
            </a:r>
            <a:endParaRPr lang="en-US" sz="3800" dirty="0"/>
          </a:p>
        </p:txBody>
      </p:sp>
      <p:sp>
        <p:nvSpPr>
          <p:cNvPr id="4" name="Text 2"/>
          <p:cNvSpPr/>
          <p:nvPr/>
        </p:nvSpPr>
        <p:spPr>
          <a:xfrm>
            <a:off x="812800" y="1922711"/>
            <a:ext cx="10566400" cy="1231900"/>
          </a:xfrm>
          <a:prstGeom prst="roundRect">
            <a:avLst>
              <a:gd name="adj" fmla="val 10309"/>
            </a:avLst>
          </a:prstGeom>
          <a:solidFill>
            <a:srgbClr val="1C1A16"/>
          </a:solidFill>
          <a:ln/>
        </p:spPr>
        <p:txBody>
          <a:bodyPr wrap="square" lIns="216803" tIns="216803" rIns="0" bIns="191403" rtlCol="0" anchor="t">
            <a:normAutofit/>
          </a:bodyPr>
          <a:lstStyle/>
          <a:p>
            <a:pPr marL="0" indent="0" algn="l">
              <a:lnSpc>
                <a:spcPts val="2850"/>
              </a:lnSpc>
              <a:buNone/>
            </a:pPr>
            <a:r>
              <a:rPr lang="en-US" sz="1900" b="1" dirty="0">
                <a:solidFill>
                  <a:srgbClr val="FAF5E8"/>
                </a:solidFill>
                <a:latin typeface="Public Sans" pitchFamily="34" charset="0"/>
                <a:ea typeface="Public Sans" pitchFamily="34" charset="-122"/>
                <a:cs typeface="Public Sans" pitchFamily="34" charset="-120"/>
              </a:rPr>
              <a:t>f(x1, x2) = −a·exp(−b·√(0.5(x1² + </a:t>
            </a:r>
            <a:r>
              <a:rPr lang="en-US" sz="1900" b="1">
                <a:solidFill>
                  <a:srgbClr val="FAF5E8"/>
                </a:solidFill>
                <a:latin typeface="Public Sans" pitchFamily="34" charset="0"/>
                <a:ea typeface="Public Sans" pitchFamily="34" charset="-122"/>
                <a:cs typeface="Public Sans" pitchFamily="34" charset="-120"/>
              </a:rPr>
              <a:t>x2²))) − </a:t>
            </a:r>
            <a:r>
              <a:rPr lang="en-US" sz="1900" b="1" dirty="0">
                <a:solidFill>
                  <a:srgbClr val="FAF5E8"/>
                </a:solidFill>
                <a:latin typeface="Public Sans" pitchFamily="34" charset="0"/>
                <a:ea typeface="Public Sans" pitchFamily="34" charset="-122"/>
                <a:cs typeface="Public Sans" pitchFamily="34" charset="-120"/>
              </a:rPr>
              <a:t>exp(0.5(cos(c·x1) + cos(c·x2))) + a + e</a:t>
            </a:r>
            <a:endParaRPr lang="en-US" sz="1900" dirty="0"/>
          </a:p>
        </p:txBody>
      </p:sp>
      <p:sp>
        <p:nvSpPr>
          <p:cNvPr id="5" name="Shape 3"/>
          <p:cNvSpPr/>
          <p:nvPr/>
        </p:nvSpPr>
        <p:spPr>
          <a:xfrm>
            <a:off x="819150" y="3414961"/>
            <a:ext cx="3373934" cy="1247080"/>
          </a:xfrm>
          <a:prstGeom prst="roundRect">
            <a:avLst>
              <a:gd name="adj" fmla="val 9675"/>
            </a:avLst>
          </a:prstGeom>
          <a:solidFill>
            <a:srgbClr val="FFFCF3"/>
          </a:solidFill>
          <a:ln w="12700">
            <a:solidFill>
              <a:srgbClr val="E6DCC0"/>
            </a:solidFill>
            <a:prstDash val="solid"/>
          </a:ln>
        </p:spPr>
      </p:sp>
      <p:sp>
        <p:nvSpPr>
          <p:cNvPr id="6" name="Text 4"/>
          <p:cNvSpPr/>
          <p:nvPr/>
        </p:nvSpPr>
        <p:spPr>
          <a:xfrm>
            <a:off x="1054100" y="3649911"/>
            <a:ext cx="2991155" cy="45209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8A5A00"/>
                </a:solidFill>
                <a:latin typeface="Oswald" pitchFamily="34" charset="0"/>
                <a:ea typeface="Oswald" pitchFamily="34" charset="-122"/>
                <a:cs typeface="Oswald" pitchFamily="34" charset="-120"/>
              </a:rPr>
              <a:t>f(0, 0) = 0</a:t>
            </a:r>
            <a:endParaRPr lang="en-US" sz="2800" dirty="0"/>
          </a:p>
        </p:txBody>
      </p:sp>
      <p:sp>
        <p:nvSpPr>
          <p:cNvPr id="7" name="Text 5"/>
          <p:cNvSpPr/>
          <p:nvPr/>
        </p:nvSpPr>
        <p:spPr>
          <a:xfrm>
            <a:off x="1054100" y="4152801"/>
            <a:ext cx="2991155"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D382D"/>
                </a:solidFill>
                <a:latin typeface="Public Sans" pitchFamily="34" charset="0"/>
                <a:ea typeface="Public Sans" pitchFamily="34" charset="-122"/>
                <a:cs typeface="Public Sans" pitchFamily="34" charset="-120"/>
              </a:rPr>
              <a:t>The known global minimum</a:t>
            </a:r>
            <a:endParaRPr lang="en-US" sz="1600" dirty="0"/>
          </a:p>
        </p:txBody>
      </p:sp>
      <p:sp>
        <p:nvSpPr>
          <p:cNvPr id="8" name="Shape 6"/>
          <p:cNvSpPr/>
          <p:nvPr/>
        </p:nvSpPr>
        <p:spPr>
          <a:xfrm>
            <a:off x="4408984" y="3414961"/>
            <a:ext cx="3373983" cy="1247080"/>
          </a:xfrm>
          <a:prstGeom prst="roundRect">
            <a:avLst>
              <a:gd name="adj" fmla="val 9675"/>
            </a:avLst>
          </a:prstGeom>
          <a:solidFill>
            <a:srgbClr val="FFFCF3"/>
          </a:solidFill>
          <a:ln w="12700">
            <a:solidFill>
              <a:srgbClr val="E6DCC0"/>
            </a:solidFill>
            <a:prstDash val="solid"/>
          </a:ln>
        </p:spPr>
      </p:sp>
      <p:sp>
        <p:nvSpPr>
          <p:cNvPr id="9" name="Text 7"/>
          <p:cNvSpPr/>
          <p:nvPr/>
        </p:nvSpPr>
        <p:spPr>
          <a:xfrm>
            <a:off x="4643934" y="3649911"/>
            <a:ext cx="2991206" cy="45209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8A5A00"/>
                </a:solidFill>
                <a:latin typeface="Oswald" pitchFamily="34" charset="0"/>
                <a:ea typeface="Oswald" pitchFamily="34" charset="-122"/>
                <a:cs typeface="Oswald" pitchFamily="34" charset="-120"/>
              </a:rPr>
              <a:t>−5 ≤ x ≤ 5</a:t>
            </a:r>
            <a:endParaRPr lang="en-US" sz="2800" dirty="0"/>
          </a:p>
        </p:txBody>
      </p:sp>
      <p:sp>
        <p:nvSpPr>
          <p:cNvPr id="10" name="Text 8"/>
          <p:cNvSpPr/>
          <p:nvPr/>
        </p:nvSpPr>
        <p:spPr>
          <a:xfrm>
            <a:off x="4643934" y="4152801"/>
            <a:ext cx="2991206"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D382D"/>
                </a:solidFill>
                <a:latin typeface="Public Sans" pitchFamily="34" charset="0"/>
                <a:ea typeface="Public Sans" pitchFamily="34" charset="-122"/>
                <a:cs typeface="Public Sans" pitchFamily="34" charset="-120"/>
              </a:rPr>
              <a:t>Search range for x1 and x2</a:t>
            </a:r>
            <a:endParaRPr lang="en-US" sz="1600" dirty="0"/>
          </a:p>
        </p:txBody>
      </p:sp>
      <p:sp>
        <p:nvSpPr>
          <p:cNvPr id="11" name="Shape 9"/>
          <p:cNvSpPr/>
          <p:nvPr/>
        </p:nvSpPr>
        <p:spPr>
          <a:xfrm>
            <a:off x="7998867" y="3414961"/>
            <a:ext cx="3373983" cy="1247080"/>
          </a:xfrm>
          <a:prstGeom prst="roundRect">
            <a:avLst>
              <a:gd name="adj" fmla="val 9675"/>
            </a:avLst>
          </a:prstGeom>
          <a:solidFill>
            <a:srgbClr val="FFFCF3"/>
          </a:solidFill>
          <a:ln w="12700">
            <a:solidFill>
              <a:srgbClr val="E6DCC0"/>
            </a:solidFill>
            <a:prstDash val="solid"/>
          </a:ln>
        </p:spPr>
      </p:sp>
      <p:sp>
        <p:nvSpPr>
          <p:cNvPr id="12" name="Text 10"/>
          <p:cNvSpPr/>
          <p:nvPr/>
        </p:nvSpPr>
        <p:spPr>
          <a:xfrm>
            <a:off x="8233817" y="3649911"/>
            <a:ext cx="2991206" cy="45209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8A5A00"/>
                </a:solidFill>
                <a:latin typeface="Oswald" pitchFamily="34" charset="0"/>
                <a:ea typeface="Oswald" pitchFamily="34" charset="-122"/>
                <a:cs typeface="Oswald" pitchFamily="34" charset="-120"/>
              </a:rPr>
              <a:t>a=20 b=0.2</a:t>
            </a:r>
            <a:endParaRPr lang="en-US" sz="2800" dirty="0"/>
          </a:p>
        </p:txBody>
      </p:sp>
      <p:sp>
        <p:nvSpPr>
          <p:cNvPr id="13" name="Text 11"/>
          <p:cNvSpPr/>
          <p:nvPr/>
        </p:nvSpPr>
        <p:spPr>
          <a:xfrm>
            <a:off x="8233817" y="4152801"/>
            <a:ext cx="2991206"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D382D"/>
                </a:solidFill>
                <a:latin typeface="Public Sans" pitchFamily="34" charset="0"/>
                <a:ea typeface="Public Sans" pitchFamily="34" charset="-122"/>
                <a:cs typeface="Public Sans" pitchFamily="34" charset="-120"/>
              </a:rPr>
              <a:t>and c = 2π</a:t>
            </a:r>
            <a:endParaRPr lang="en-US" sz="1600" dirty="0"/>
          </a:p>
        </p:txBody>
      </p:sp>
      <p:sp>
        <p:nvSpPr>
          <p:cNvPr id="14" name="Text 12"/>
          <p:cNvSpPr/>
          <p:nvPr/>
        </p:nvSpPr>
        <p:spPr>
          <a:xfrm>
            <a:off x="812800" y="492239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82D"/>
                </a:solidFill>
                <a:latin typeface="Public Sans" pitchFamily="34" charset="0"/>
                <a:ea typeface="Public Sans" pitchFamily="34" charset="-122"/>
                <a:cs typeface="Public Sans" pitchFamily="34" charset="-120"/>
              </a:rPr>
              <a:t>Many local minima around one global minimum: a classic test for optimizers.</a:t>
            </a:r>
            <a:endParaRPr lang="en-US" sz="1600" dirty="0"/>
          </a:p>
        </p:txBody>
      </p:sp>
      <p:sp>
        <p:nvSpPr>
          <p:cNvPr id="15" name="Text 13"/>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446"/>
                </a:solidFill>
                <a:latin typeface="Public Sans" pitchFamily="34" charset="0"/>
                <a:ea typeface="Public Sans" pitchFamily="34" charset="-122"/>
                <a:cs typeface="Public Sans" pitchFamily="34" charset="-120"/>
              </a:rPr>
              <a:t>Artificial Bee Colony · 2D Ackley</a:t>
            </a:r>
            <a:endParaRPr lang="en-US" sz="1200" dirty="0"/>
          </a:p>
        </p:txBody>
      </p:sp>
      <p:sp>
        <p:nvSpPr>
          <p:cNvPr id="16" name="Text 1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446"/>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8A5A00"/>
                </a:solidFill>
                <a:latin typeface="Public Sans" pitchFamily="34" charset="0"/>
                <a:ea typeface="Public Sans" pitchFamily="34" charset="-122"/>
                <a:cs typeface="Public Sans" pitchFamily="34" charset="-120"/>
              </a:rPr>
              <a:t>THE ALGORITHM</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C1A16"/>
                </a:solidFill>
                <a:latin typeface="Oswald" pitchFamily="34" charset="0"/>
                <a:ea typeface="Oswald" pitchFamily="34" charset="-122"/>
                <a:cs typeface="Oswald" pitchFamily="34" charset="-120"/>
              </a:rPr>
              <a:t>Three groups of bees</a:t>
            </a:r>
            <a:endParaRPr lang="en-US" sz="3800" dirty="0"/>
          </a:p>
        </p:txBody>
      </p:sp>
      <p:sp>
        <p:nvSpPr>
          <p:cNvPr id="4" name="Shape 2"/>
          <p:cNvSpPr/>
          <p:nvPr/>
        </p:nvSpPr>
        <p:spPr>
          <a:xfrm>
            <a:off x="819150" y="1929061"/>
            <a:ext cx="3373934" cy="2085181"/>
          </a:xfrm>
          <a:prstGeom prst="roundRect">
            <a:avLst>
              <a:gd name="adj" fmla="val 5786"/>
            </a:avLst>
          </a:prstGeom>
          <a:solidFill>
            <a:srgbClr val="FFFCF3"/>
          </a:solidFill>
          <a:ln w="12700">
            <a:solidFill>
              <a:srgbClr val="E6DCC0"/>
            </a:solidFill>
            <a:prstDash val="solid"/>
          </a:ln>
        </p:spPr>
      </p:sp>
      <p:sp>
        <p:nvSpPr>
          <p:cNvPr id="5" name="Text 3"/>
          <p:cNvSpPr/>
          <p:nvPr/>
        </p:nvSpPr>
        <p:spPr>
          <a:xfrm>
            <a:off x="1079500" y="2189411"/>
            <a:ext cx="2938831"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8A5A00"/>
                </a:solidFill>
                <a:latin typeface="Oswald" pitchFamily="34" charset="0"/>
                <a:ea typeface="Oswald" pitchFamily="34" charset="-122"/>
                <a:cs typeface="Oswald" pitchFamily="34" charset="-120"/>
              </a:rPr>
              <a:t>Employed bees</a:t>
            </a:r>
            <a:endParaRPr lang="en-US" sz="2400" dirty="0"/>
          </a:p>
        </p:txBody>
      </p:sp>
      <p:sp>
        <p:nvSpPr>
          <p:cNvPr id="6" name="Text 4"/>
          <p:cNvSpPr/>
          <p:nvPr/>
        </p:nvSpPr>
        <p:spPr>
          <a:xfrm>
            <a:off x="1079500" y="2656731"/>
            <a:ext cx="2938831" cy="84827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D382D"/>
                </a:solidFill>
                <a:latin typeface="Public Sans" pitchFamily="34" charset="0"/>
                <a:ea typeface="Public Sans" pitchFamily="34" charset="-122"/>
                <a:cs typeface="Public Sans" pitchFamily="34" charset="-120"/>
              </a:rPr>
              <a:t>Stay on a food source and search the neighbourhood of that source.</a:t>
            </a:r>
            <a:endParaRPr lang="en-US" sz="1600" dirty="0"/>
          </a:p>
        </p:txBody>
      </p:sp>
      <p:sp>
        <p:nvSpPr>
          <p:cNvPr id="7" name="Shape 5"/>
          <p:cNvSpPr/>
          <p:nvPr/>
        </p:nvSpPr>
        <p:spPr>
          <a:xfrm>
            <a:off x="4408984" y="1929061"/>
            <a:ext cx="3373983" cy="2085181"/>
          </a:xfrm>
          <a:prstGeom prst="roundRect">
            <a:avLst>
              <a:gd name="adj" fmla="val 5786"/>
            </a:avLst>
          </a:prstGeom>
          <a:solidFill>
            <a:srgbClr val="FFFCF3"/>
          </a:solidFill>
          <a:ln w="12700">
            <a:solidFill>
              <a:srgbClr val="E6DCC0"/>
            </a:solidFill>
            <a:prstDash val="solid"/>
          </a:ln>
        </p:spPr>
      </p:sp>
      <p:sp>
        <p:nvSpPr>
          <p:cNvPr id="8" name="Text 6"/>
          <p:cNvSpPr/>
          <p:nvPr/>
        </p:nvSpPr>
        <p:spPr>
          <a:xfrm>
            <a:off x="4669334" y="2189411"/>
            <a:ext cx="2938882"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8A5A00"/>
                </a:solidFill>
                <a:latin typeface="Oswald" pitchFamily="34" charset="0"/>
                <a:ea typeface="Oswald" pitchFamily="34" charset="-122"/>
                <a:cs typeface="Oswald" pitchFamily="34" charset="-120"/>
              </a:rPr>
              <a:t>Onlooker bees</a:t>
            </a:r>
            <a:endParaRPr lang="en-US" sz="2400" dirty="0"/>
          </a:p>
        </p:txBody>
      </p:sp>
      <p:sp>
        <p:nvSpPr>
          <p:cNvPr id="9" name="Text 7"/>
          <p:cNvSpPr/>
          <p:nvPr/>
        </p:nvSpPr>
        <p:spPr>
          <a:xfrm>
            <a:off x="4669334" y="2656731"/>
            <a:ext cx="2938882" cy="112256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D382D"/>
                </a:solidFill>
                <a:latin typeface="Public Sans" pitchFamily="34" charset="0"/>
                <a:ea typeface="Public Sans" pitchFamily="34" charset="-122"/>
                <a:cs typeface="Public Sans" pitchFamily="34" charset="-120"/>
              </a:rPr>
              <a:t>Get food-source information from the employed bees and choose which sources to gather nectar from.</a:t>
            </a:r>
            <a:endParaRPr lang="en-US" sz="1600" dirty="0"/>
          </a:p>
        </p:txBody>
      </p:sp>
      <p:sp>
        <p:nvSpPr>
          <p:cNvPr id="10" name="Shape 8"/>
          <p:cNvSpPr/>
          <p:nvPr/>
        </p:nvSpPr>
        <p:spPr>
          <a:xfrm>
            <a:off x="7998867" y="1929061"/>
            <a:ext cx="3373983" cy="2085181"/>
          </a:xfrm>
          <a:prstGeom prst="roundRect">
            <a:avLst>
              <a:gd name="adj" fmla="val 5786"/>
            </a:avLst>
          </a:prstGeom>
          <a:solidFill>
            <a:srgbClr val="FFFCF3"/>
          </a:solidFill>
          <a:ln w="12700">
            <a:solidFill>
              <a:srgbClr val="E6DCC0"/>
            </a:solidFill>
            <a:prstDash val="solid"/>
          </a:ln>
        </p:spPr>
      </p:sp>
      <p:sp>
        <p:nvSpPr>
          <p:cNvPr id="11" name="Text 9"/>
          <p:cNvSpPr/>
          <p:nvPr/>
        </p:nvSpPr>
        <p:spPr>
          <a:xfrm>
            <a:off x="8259217" y="2189411"/>
            <a:ext cx="2938882"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8A5A00"/>
                </a:solidFill>
                <a:latin typeface="Oswald" pitchFamily="34" charset="0"/>
                <a:ea typeface="Oswald" pitchFamily="34" charset="-122"/>
                <a:cs typeface="Oswald" pitchFamily="34" charset="-120"/>
              </a:rPr>
              <a:t>Scout bees</a:t>
            </a:r>
            <a:endParaRPr lang="en-US" sz="2400" dirty="0"/>
          </a:p>
        </p:txBody>
      </p:sp>
      <p:sp>
        <p:nvSpPr>
          <p:cNvPr id="12" name="Text 10"/>
          <p:cNvSpPr/>
          <p:nvPr/>
        </p:nvSpPr>
        <p:spPr>
          <a:xfrm>
            <a:off x="8259217" y="2656731"/>
            <a:ext cx="2938882" cy="112256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D382D"/>
                </a:solidFill>
                <a:latin typeface="Public Sans" pitchFamily="34" charset="0"/>
                <a:ea typeface="Public Sans" pitchFamily="34" charset="-122"/>
                <a:cs typeface="Public Sans" pitchFamily="34" charset="-120"/>
              </a:rPr>
              <a:t>When a food source is abandoned, its bee becomes a scout and searches for a new source.</a:t>
            </a:r>
            <a:endParaRPr lang="en-US" sz="1600" dirty="0"/>
          </a:p>
        </p:txBody>
      </p:sp>
      <p:sp>
        <p:nvSpPr>
          <p:cNvPr id="13" name="Text 11"/>
          <p:cNvSpPr/>
          <p:nvPr/>
        </p:nvSpPr>
        <p:spPr>
          <a:xfrm>
            <a:off x="812800" y="427459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82D"/>
                </a:solidFill>
                <a:latin typeface="Public Sans" pitchFamily="34" charset="0"/>
                <a:ea typeface="Public Sans" pitchFamily="34" charset="-122"/>
                <a:cs typeface="Public Sans" pitchFamily="34" charset="-120"/>
              </a:rPr>
              <a:t>Food source = candidate solution [x1, x2] · Nectar quality = fitness</a:t>
            </a:r>
            <a:endParaRPr lang="en-US" sz="16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446"/>
                </a:solidFill>
                <a:latin typeface="Public Sans" pitchFamily="34" charset="0"/>
                <a:ea typeface="Public Sans" pitchFamily="34" charset="-122"/>
                <a:cs typeface="Public Sans" pitchFamily="34" charset="-120"/>
              </a:rPr>
              <a:t>Artificial Bee Colony · 2D Ackley</a:t>
            </a:r>
            <a:endParaRPr lang="en-US" sz="1200" dirty="0"/>
          </a:p>
        </p:txBody>
      </p:sp>
      <p:sp>
        <p:nvSpPr>
          <p:cNvPr id="15" name="Text 1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446"/>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A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2B632"/>
                </a:solidFill>
                <a:latin typeface="Public Sans" pitchFamily="34" charset="0"/>
                <a:ea typeface="Public Sans" pitchFamily="34" charset="-122"/>
                <a:cs typeface="Public Sans" pitchFamily="34" charset="-120"/>
              </a:rPr>
              <a:t>THE ALGORITHM</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FAF5E8"/>
                </a:solidFill>
                <a:latin typeface="Oswald" pitchFamily="34" charset="0"/>
                <a:ea typeface="Oswald" pitchFamily="34" charset="-122"/>
                <a:cs typeface="Oswald" pitchFamily="34" charset="-120"/>
              </a:rPr>
              <a:t>Four steps</a:t>
            </a:r>
            <a:endParaRPr lang="en-US" sz="3800" dirty="0"/>
          </a:p>
        </p:txBody>
      </p:sp>
      <p:sp>
        <p:nvSpPr>
          <p:cNvPr id="4" name="Shape 2"/>
          <p:cNvSpPr/>
          <p:nvPr/>
        </p:nvSpPr>
        <p:spPr>
          <a:xfrm>
            <a:off x="819150" y="1979861"/>
            <a:ext cx="2476500" cy="2830711"/>
          </a:xfrm>
          <a:prstGeom prst="roundRect">
            <a:avLst>
              <a:gd name="adj" fmla="val 4872"/>
            </a:avLst>
          </a:prstGeom>
          <a:solidFill>
            <a:srgbClr val="2A2720"/>
          </a:solidFill>
          <a:ln w="12700">
            <a:solidFill>
              <a:srgbClr val="4A4436"/>
            </a:solidFill>
            <a:prstDash val="solid"/>
          </a:ln>
        </p:spPr>
      </p:sp>
      <p:sp>
        <p:nvSpPr>
          <p:cNvPr id="5" name="Text 3"/>
          <p:cNvSpPr/>
          <p:nvPr/>
        </p:nvSpPr>
        <p:spPr>
          <a:xfrm>
            <a:off x="1054100" y="2214811"/>
            <a:ext cx="2066798"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632"/>
                </a:solidFill>
                <a:latin typeface="Public Sans" pitchFamily="34" charset="0"/>
                <a:ea typeface="Public Sans" pitchFamily="34" charset="-122"/>
                <a:cs typeface="Public Sans" pitchFamily="34" charset="-120"/>
              </a:rPr>
              <a:t>STEP 1</a:t>
            </a:r>
            <a:endParaRPr lang="en-US" sz="1400" dirty="0"/>
          </a:p>
        </p:txBody>
      </p:sp>
      <p:sp>
        <p:nvSpPr>
          <p:cNvPr id="6" name="Text 4"/>
          <p:cNvSpPr/>
          <p:nvPr/>
        </p:nvSpPr>
        <p:spPr>
          <a:xfrm>
            <a:off x="1054100" y="2565301"/>
            <a:ext cx="2066798" cy="586680"/>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FAF5E8"/>
                </a:solidFill>
                <a:latin typeface="Public Sans" pitchFamily="34" charset="0"/>
                <a:ea typeface="Public Sans" pitchFamily="34" charset="-122"/>
                <a:cs typeface="Public Sans" pitchFamily="34" charset="-120"/>
              </a:rPr>
              <a:t>Assign control parameters</a:t>
            </a:r>
            <a:endParaRPr lang="en-US" sz="1700" dirty="0"/>
          </a:p>
        </p:txBody>
      </p:sp>
      <p:sp>
        <p:nvSpPr>
          <p:cNvPr id="7" name="Shape 5"/>
          <p:cNvSpPr/>
          <p:nvPr/>
        </p:nvSpPr>
        <p:spPr>
          <a:xfrm>
            <a:off x="3511550" y="1979861"/>
            <a:ext cx="2476500" cy="2830711"/>
          </a:xfrm>
          <a:prstGeom prst="roundRect">
            <a:avLst>
              <a:gd name="adj" fmla="val 4872"/>
            </a:avLst>
          </a:prstGeom>
          <a:solidFill>
            <a:srgbClr val="2A2720"/>
          </a:solidFill>
          <a:ln w="12700">
            <a:solidFill>
              <a:srgbClr val="4A4436"/>
            </a:solidFill>
            <a:prstDash val="solid"/>
          </a:ln>
        </p:spPr>
      </p:sp>
      <p:sp>
        <p:nvSpPr>
          <p:cNvPr id="8" name="Text 6"/>
          <p:cNvSpPr/>
          <p:nvPr/>
        </p:nvSpPr>
        <p:spPr>
          <a:xfrm>
            <a:off x="3746500" y="2214811"/>
            <a:ext cx="2066798"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632"/>
                </a:solidFill>
                <a:latin typeface="Public Sans" pitchFamily="34" charset="0"/>
                <a:ea typeface="Public Sans" pitchFamily="34" charset="-122"/>
                <a:cs typeface="Public Sans" pitchFamily="34" charset="-120"/>
              </a:rPr>
              <a:t>STEP 2</a:t>
            </a:r>
            <a:endParaRPr lang="en-US" sz="1400" dirty="0"/>
          </a:p>
        </p:txBody>
      </p:sp>
      <p:sp>
        <p:nvSpPr>
          <p:cNvPr id="9" name="Text 7"/>
          <p:cNvSpPr/>
          <p:nvPr/>
        </p:nvSpPr>
        <p:spPr>
          <a:xfrm>
            <a:off x="3746500" y="2565301"/>
            <a:ext cx="2066798" cy="86732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FAF5E8"/>
                </a:solidFill>
                <a:latin typeface="Public Sans" pitchFamily="34" charset="0"/>
                <a:ea typeface="Public Sans" pitchFamily="34" charset="-122"/>
                <a:cs typeface="Public Sans" pitchFamily="34" charset="-120"/>
              </a:rPr>
              <a:t>Initialize solutions and calculate fitness</a:t>
            </a:r>
            <a:endParaRPr lang="en-US" sz="1700" dirty="0"/>
          </a:p>
        </p:txBody>
      </p:sp>
      <p:sp>
        <p:nvSpPr>
          <p:cNvPr id="10" name="Shape 8"/>
          <p:cNvSpPr/>
          <p:nvPr/>
        </p:nvSpPr>
        <p:spPr>
          <a:xfrm>
            <a:off x="6203950" y="1979861"/>
            <a:ext cx="2476500" cy="2830711"/>
          </a:xfrm>
          <a:prstGeom prst="roundRect">
            <a:avLst>
              <a:gd name="adj" fmla="val 4872"/>
            </a:avLst>
          </a:prstGeom>
          <a:solidFill>
            <a:srgbClr val="2A2720"/>
          </a:solidFill>
          <a:ln w="12700">
            <a:solidFill>
              <a:srgbClr val="F2B632"/>
            </a:solidFill>
            <a:prstDash val="solid"/>
          </a:ln>
        </p:spPr>
      </p:sp>
      <p:sp>
        <p:nvSpPr>
          <p:cNvPr id="11" name="Text 9"/>
          <p:cNvSpPr/>
          <p:nvPr/>
        </p:nvSpPr>
        <p:spPr>
          <a:xfrm>
            <a:off x="6438900" y="2214811"/>
            <a:ext cx="2066798"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632"/>
                </a:solidFill>
                <a:latin typeface="Public Sans" pitchFamily="34" charset="0"/>
                <a:ea typeface="Public Sans" pitchFamily="34" charset="-122"/>
                <a:cs typeface="Public Sans" pitchFamily="34" charset="-120"/>
              </a:rPr>
              <a:t>STEP 3</a:t>
            </a:r>
            <a:endParaRPr lang="en-US" sz="1400" dirty="0"/>
          </a:p>
        </p:txBody>
      </p:sp>
      <p:sp>
        <p:nvSpPr>
          <p:cNvPr id="12" name="Text 10"/>
          <p:cNvSpPr/>
          <p:nvPr/>
        </p:nvSpPr>
        <p:spPr>
          <a:xfrm>
            <a:off x="6438900" y="2565301"/>
            <a:ext cx="2066798" cy="86732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FAF5E8"/>
                </a:solidFill>
                <a:latin typeface="Public Sans" pitchFamily="34" charset="0"/>
                <a:ea typeface="Public Sans" pitchFamily="34" charset="-122"/>
                <a:cs typeface="Public Sans" pitchFamily="34" charset="-120"/>
              </a:rPr>
              <a:t>Repeat until the stopping criteria is met</a:t>
            </a:r>
            <a:endParaRPr lang="en-US" sz="1700" dirty="0"/>
          </a:p>
        </p:txBody>
      </p:sp>
      <p:sp>
        <p:nvSpPr>
          <p:cNvPr id="13" name="Text 11"/>
          <p:cNvSpPr/>
          <p:nvPr/>
        </p:nvSpPr>
        <p:spPr>
          <a:xfrm>
            <a:off x="6522720" y="3508821"/>
            <a:ext cx="1975358" cy="1092200"/>
          </a:xfrm>
          <a:prstGeom prst="rect">
            <a:avLst/>
          </a:prstGeom>
          <a:noFill/>
          <a:ln/>
        </p:spPr>
        <p:txBody>
          <a:bodyPr wrap="square" lIns="0" tIns="0" rIns="0" bIns="0" rtlCol="0" anchor="t">
            <a:normAutofit/>
          </a:bodyPr>
          <a:lstStyle/>
          <a:p>
            <a:pPr marL="170180" indent="-170180" algn="l">
              <a:lnSpc>
                <a:spcPts val="2100"/>
              </a:lnSpc>
              <a:buSzPct val="100000"/>
              <a:buChar char="•"/>
            </a:pPr>
            <a:r>
              <a:rPr lang="en-US" sz="1500" dirty="0">
                <a:solidFill>
                  <a:srgbClr val="CFC6AE"/>
                </a:solidFill>
                <a:latin typeface="Public Sans" pitchFamily="34" charset="0"/>
                <a:ea typeface="Public Sans" pitchFamily="34" charset="-122"/>
                <a:cs typeface="Public Sans" pitchFamily="34" charset="-120"/>
              </a:rPr>
              <a:t>Employed bees</a:t>
            </a:r>
            <a:endParaRPr lang="en-US" sz="1500" dirty="0"/>
          </a:p>
          <a:p>
            <a:pPr marL="170180" indent="-170180" algn="l">
              <a:lnSpc>
                <a:spcPts val="2100"/>
              </a:lnSpc>
              <a:buSzPct val="100000"/>
              <a:buChar char="•"/>
            </a:pPr>
            <a:r>
              <a:rPr lang="en-US" sz="1500" dirty="0">
                <a:solidFill>
                  <a:srgbClr val="CFC6AE"/>
                </a:solidFill>
                <a:latin typeface="Public Sans" pitchFamily="34" charset="0"/>
                <a:ea typeface="Public Sans" pitchFamily="34" charset="-122"/>
                <a:cs typeface="Public Sans" pitchFamily="34" charset="-120"/>
              </a:rPr>
              <a:t>Onlooker bees</a:t>
            </a:r>
            <a:endParaRPr lang="en-US" sz="1500" dirty="0"/>
          </a:p>
          <a:p>
            <a:pPr marL="170180" indent="-170180" algn="l">
              <a:lnSpc>
                <a:spcPts val="2100"/>
              </a:lnSpc>
              <a:buSzPct val="100000"/>
              <a:buChar char="•"/>
            </a:pPr>
            <a:r>
              <a:rPr lang="en-US" sz="1500" dirty="0">
                <a:solidFill>
                  <a:srgbClr val="CFC6AE"/>
                </a:solidFill>
                <a:latin typeface="Public Sans" pitchFamily="34" charset="0"/>
                <a:ea typeface="Public Sans" pitchFamily="34" charset="-122"/>
                <a:cs typeface="Public Sans" pitchFamily="34" charset="-120"/>
              </a:rPr>
              <a:t>Scout bees</a:t>
            </a:r>
            <a:endParaRPr lang="en-US" sz="1500" dirty="0"/>
          </a:p>
          <a:p>
            <a:pPr marL="170180" indent="-170180" algn="l">
              <a:lnSpc>
                <a:spcPts val="2100"/>
              </a:lnSpc>
              <a:buSzPct val="100000"/>
              <a:buChar char="•"/>
            </a:pPr>
            <a:r>
              <a:rPr lang="en-US" sz="1500" dirty="0">
                <a:solidFill>
                  <a:srgbClr val="CFC6AE"/>
                </a:solidFill>
                <a:latin typeface="Public Sans" pitchFamily="34" charset="0"/>
                <a:ea typeface="Public Sans" pitchFamily="34" charset="-122"/>
                <a:cs typeface="Public Sans" pitchFamily="34" charset="-120"/>
              </a:rPr>
              <a:t>Memorize the best</a:t>
            </a:r>
            <a:endParaRPr lang="en-US" sz="1500" dirty="0"/>
          </a:p>
        </p:txBody>
      </p:sp>
      <p:sp>
        <p:nvSpPr>
          <p:cNvPr id="14" name="Shape 12"/>
          <p:cNvSpPr/>
          <p:nvPr/>
        </p:nvSpPr>
        <p:spPr>
          <a:xfrm>
            <a:off x="8896350" y="1979861"/>
            <a:ext cx="2476500" cy="2830711"/>
          </a:xfrm>
          <a:prstGeom prst="roundRect">
            <a:avLst>
              <a:gd name="adj" fmla="val 4872"/>
            </a:avLst>
          </a:prstGeom>
          <a:solidFill>
            <a:srgbClr val="2A2720"/>
          </a:solidFill>
          <a:ln w="12700">
            <a:solidFill>
              <a:srgbClr val="4A4436"/>
            </a:solidFill>
            <a:prstDash val="solid"/>
          </a:ln>
        </p:spPr>
      </p:sp>
      <p:sp>
        <p:nvSpPr>
          <p:cNvPr id="15" name="Text 13"/>
          <p:cNvSpPr/>
          <p:nvPr/>
        </p:nvSpPr>
        <p:spPr>
          <a:xfrm>
            <a:off x="9131300" y="2214811"/>
            <a:ext cx="2066798"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632"/>
                </a:solidFill>
                <a:latin typeface="Public Sans" pitchFamily="34" charset="0"/>
                <a:ea typeface="Public Sans" pitchFamily="34" charset="-122"/>
                <a:cs typeface="Public Sans" pitchFamily="34" charset="-120"/>
              </a:rPr>
              <a:t>STEP 4</a:t>
            </a:r>
            <a:endParaRPr lang="en-US" sz="1400" dirty="0"/>
          </a:p>
        </p:txBody>
      </p:sp>
      <p:sp>
        <p:nvSpPr>
          <p:cNvPr id="16" name="Text 14"/>
          <p:cNvSpPr/>
          <p:nvPr/>
        </p:nvSpPr>
        <p:spPr>
          <a:xfrm>
            <a:off x="9131300" y="2565301"/>
            <a:ext cx="2066798" cy="306040"/>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FAF5E8"/>
                </a:solidFill>
                <a:latin typeface="Public Sans" pitchFamily="34" charset="0"/>
                <a:ea typeface="Public Sans" pitchFamily="34" charset="-122"/>
                <a:cs typeface="Public Sans" pitchFamily="34" charset="-120"/>
              </a:rPr>
              <a:t>Stop</a:t>
            </a:r>
            <a:endParaRPr lang="en-US" sz="17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AE"/>
                </a:solidFill>
                <a:latin typeface="Public Sans" pitchFamily="34" charset="0"/>
                <a:ea typeface="Public Sans" pitchFamily="34" charset="-122"/>
                <a:cs typeface="Public Sans" pitchFamily="34" charset="-120"/>
              </a:rPr>
              <a:t>Artificial Bee Colony · 2D Ackley</a:t>
            </a:r>
            <a:endParaRPr lang="en-US" sz="12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FC6AE"/>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8A5A00"/>
                </a:solidFill>
                <a:latin typeface="Public Sans" pitchFamily="34" charset="0"/>
                <a:ea typeface="Public Sans" pitchFamily="34" charset="-122"/>
                <a:cs typeface="Public Sans" pitchFamily="34" charset="-120"/>
              </a:rPr>
              <a:t>STEPS 1 AND 2</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C1A16"/>
                </a:solidFill>
                <a:latin typeface="Oswald" pitchFamily="34" charset="0"/>
                <a:ea typeface="Oswald" pitchFamily="34" charset="-122"/>
                <a:cs typeface="Oswald" pitchFamily="34" charset="-120"/>
              </a:rPr>
              <a:t>Parameters and initialization</a:t>
            </a:r>
            <a:endParaRPr lang="en-US" sz="3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35411"/>
          <a:ext cx="4813300" cy="3302000"/>
        </p:xfrm>
        <a:graphic>
          <a:graphicData uri="http://schemas.openxmlformats.org/drawingml/2006/table">
            <a:tbl>
              <a:tblPr/>
              <a:tblGrid>
                <a:gridCol w="2984246">
                  <a:extLst>
                    <a:ext uri="{9D8B030D-6E8A-4147-A177-3AD203B41FA5}">
                      <a16:colId xmlns:a16="http://schemas.microsoft.com/office/drawing/2014/main" val="20000"/>
                    </a:ext>
                  </a:extLst>
                </a:gridCol>
                <a:gridCol w="1829054">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1C1A16"/>
                          </a:solidFill>
                          <a:latin typeface="Public Sans" pitchFamily="34" charset="0"/>
                          <a:ea typeface="Public Sans" pitchFamily="34" charset="-122"/>
                          <a:cs typeface="Public Sans" pitchFamily="34" charset="-120"/>
                        </a:rPr>
                        <a:t>Control parameter</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B9B5AC"/>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B9B5AC"/>
                      </a:solidFill>
                      <a:prstDash val="solid"/>
                      <a:round/>
                      <a:headEnd type="none" w="med" len="med"/>
                      <a:tailEnd type="none" w="med" len="med"/>
                    </a:lnB>
                    <a:solidFill>
                      <a:srgbClr val="E8E3D7"/>
                    </a:solidFill>
                  </a:tcPr>
                </a:tc>
                <a:tc>
                  <a:txBody>
                    <a:bodyPr/>
                    <a:lstStyle/>
                    <a:p>
                      <a:pPr marL="0" indent="0" algn="r">
                        <a:lnSpc>
                          <a:spcPts val="2100"/>
                        </a:lnSpc>
                        <a:buNone/>
                      </a:pPr>
                      <a:r>
                        <a:rPr lang="en-US" sz="1500" b="1" dirty="0">
                          <a:solidFill>
                            <a:srgbClr val="1C1A16"/>
                          </a:solidFill>
                          <a:latin typeface="Public Sans" pitchFamily="34" charset="0"/>
                          <a:ea typeface="Public Sans" pitchFamily="34" charset="-122"/>
                          <a:cs typeface="Public Sans" pitchFamily="34" charset="-120"/>
                        </a:rPr>
                        <a:t>Value</a:t>
                      </a:r>
                      <a:endParaRPr lang="en-US" sz="1500" dirty="0">
                        <a:latin typeface="Public Sans" charset="0"/>
                        <a:ea typeface="Public Sans" charset="0"/>
                        <a:cs typeface="Public Sans" charset="0"/>
                      </a:endParaRPr>
                    </a:p>
                  </a:txBody>
                  <a:tcPr marL="66675" marR="66675" marT="66675" marB="66675">
                    <a:lnL w="12700" cap="flat" cmpd="sng" algn="ctr">
                      <a:solidFill>
                        <a:srgbClr val="B9B5AC"/>
                      </a:solidFill>
                      <a:prstDash val="solid"/>
                      <a:round/>
                      <a:headEnd type="none" w="med" len="med"/>
                      <a:tailEnd type="none" w="med" len="med"/>
                    </a:lnL>
                    <a:lnR w="12700" cap="flat" cmpd="sng" algn="ctr">
                      <a:solidFill>
                        <a:srgbClr val="B9B5AC"/>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B9B5AC"/>
                      </a:solidFill>
                      <a:prstDash val="solid"/>
                      <a:round/>
                      <a:headEnd type="none" w="med" len="med"/>
                      <a:tailEnd type="none" w="med" len="med"/>
                    </a:lnB>
                    <a:solidFill>
                      <a:srgbClr val="E8E3D7"/>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C1A16"/>
                          </a:solidFill>
                          <a:latin typeface="Public Sans" pitchFamily="34" charset="0"/>
                          <a:ea typeface="Public Sans" pitchFamily="34" charset="-122"/>
                          <a:cs typeface="Public Sans" pitchFamily="34" charset="-120"/>
                        </a:rPr>
                        <a:t>Swarm size</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B9B5AC"/>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100"/>
                        </a:lnSpc>
                        <a:buNone/>
                      </a:pPr>
                      <a:r>
                        <a:rPr lang="en-US" sz="1500" dirty="0">
                          <a:solidFill>
                            <a:srgbClr val="1C1A16"/>
                          </a:solidFill>
                          <a:latin typeface="Public Sans" pitchFamily="34" charset="0"/>
                          <a:ea typeface="Public Sans" pitchFamily="34" charset="-122"/>
                          <a:cs typeface="Public Sans" pitchFamily="34" charset="-120"/>
                        </a:rPr>
                        <a:t>100</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B9B5AC"/>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C1A16"/>
                          </a:solidFill>
                          <a:latin typeface="Public Sans" pitchFamily="34" charset="0"/>
                          <a:ea typeface="Public Sans" pitchFamily="34" charset="-122"/>
                          <a:cs typeface="Public Sans" pitchFamily="34" charset="-120"/>
                        </a:rPr>
                        <a:t>Employed bees (50%)</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100"/>
                        </a:lnSpc>
                        <a:buNone/>
                      </a:pPr>
                      <a:r>
                        <a:rPr lang="en-US" sz="1500" dirty="0">
                          <a:solidFill>
                            <a:srgbClr val="1C1A16"/>
                          </a:solidFill>
                          <a:latin typeface="Public Sans" pitchFamily="34" charset="0"/>
                          <a:ea typeface="Public Sans" pitchFamily="34" charset="-122"/>
                          <a:cs typeface="Public Sans" pitchFamily="34" charset="-120"/>
                        </a:rPr>
                        <a:t>50</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C1A16"/>
                          </a:solidFill>
                          <a:latin typeface="Public Sans" pitchFamily="34" charset="0"/>
                          <a:ea typeface="Public Sans" pitchFamily="34" charset="-122"/>
                          <a:cs typeface="Public Sans" pitchFamily="34" charset="-120"/>
                        </a:rPr>
                        <a:t>Onlooker bees (50%)</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100"/>
                        </a:lnSpc>
                        <a:buNone/>
                      </a:pPr>
                      <a:r>
                        <a:rPr lang="en-US" sz="1500" dirty="0">
                          <a:solidFill>
                            <a:srgbClr val="1C1A16"/>
                          </a:solidFill>
                          <a:latin typeface="Public Sans" pitchFamily="34" charset="0"/>
                          <a:ea typeface="Public Sans" pitchFamily="34" charset="-122"/>
                          <a:cs typeface="Public Sans" pitchFamily="34" charset="-120"/>
                        </a:rPr>
                        <a:t>50</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C1A16"/>
                          </a:solidFill>
                          <a:latin typeface="Public Sans" pitchFamily="34" charset="0"/>
                          <a:ea typeface="Public Sans" pitchFamily="34" charset="-122"/>
                          <a:cs typeface="Public Sans" pitchFamily="34" charset="-120"/>
                        </a:rPr>
                        <a:t>Scouts</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100"/>
                        </a:lnSpc>
                        <a:buNone/>
                      </a:pPr>
                      <a:r>
                        <a:rPr lang="en-US" sz="1500" dirty="0">
                          <a:solidFill>
                            <a:srgbClr val="1C1A16"/>
                          </a:solidFill>
                          <a:latin typeface="Public Sans" pitchFamily="34" charset="0"/>
                          <a:ea typeface="Public Sans" pitchFamily="34" charset="-122"/>
                          <a:cs typeface="Public Sans" pitchFamily="34" charset="-120"/>
                        </a:rPr>
                        <a:t>1</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C1A16"/>
                          </a:solidFill>
                          <a:latin typeface="Public Sans" pitchFamily="34" charset="0"/>
                          <a:ea typeface="Public Sans" pitchFamily="34" charset="-122"/>
                          <a:cs typeface="Public Sans" pitchFamily="34" charset="-120"/>
                        </a:rPr>
                        <a:t>Limit</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100"/>
                        </a:lnSpc>
                        <a:buNone/>
                      </a:pPr>
                      <a:r>
                        <a:rPr lang="en-US" sz="1500" dirty="0">
                          <a:solidFill>
                            <a:srgbClr val="1C1A16"/>
                          </a:solidFill>
                          <a:latin typeface="Public Sans" pitchFamily="34" charset="0"/>
                          <a:ea typeface="Public Sans" pitchFamily="34" charset="-122"/>
                          <a:cs typeface="Public Sans" pitchFamily="34" charset="-120"/>
                        </a:rPr>
                        <a:t>20 cycles</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1C1A16"/>
                          </a:solidFill>
                          <a:latin typeface="Public Sans" pitchFamily="34" charset="0"/>
                          <a:ea typeface="Public Sans" pitchFamily="34" charset="-122"/>
                          <a:cs typeface="Public Sans" pitchFamily="34" charset="-120"/>
                        </a:rPr>
                        <a:t>Dimension</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100"/>
                        </a:lnSpc>
                        <a:buNone/>
                      </a:pPr>
                      <a:r>
                        <a:rPr lang="en-US" sz="1500" dirty="0">
                          <a:solidFill>
                            <a:srgbClr val="1C1A16"/>
                          </a:solidFill>
                          <a:latin typeface="Public Sans" pitchFamily="34" charset="0"/>
                          <a:ea typeface="Public Sans" pitchFamily="34" charset="-122"/>
                          <a:cs typeface="Public Sans" pitchFamily="34" charset="-120"/>
                        </a:rPr>
                        <a:t>2</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6"/>
                  </a:ext>
                </a:extLst>
              </a:tr>
              <a:tr h="412750">
                <a:tc>
                  <a:txBody>
                    <a:bodyPr/>
                    <a:lstStyle/>
                    <a:p>
                      <a:pPr marL="0" indent="0">
                        <a:lnSpc>
                          <a:spcPts val="2100"/>
                        </a:lnSpc>
                        <a:buNone/>
                      </a:pPr>
                      <a:r>
                        <a:rPr lang="en-US" sz="1500" dirty="0">
                          <a:solidFill>
                            <a:srgbClr val="1C1A16"/>
                          </a:solidFill>
                          <a:latin typeface="Public Sans" pitchFamily="34" charset="0"/>
                          <a:ea typeface="Public Sans" pitchFamily="34" charset="-122"/>
                          <a:cs typeface="Public Sans" pitchFamily="34" charset="-120"/>
                        </a:rPr>
                        <a:t>Max cycles</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100"/>
                        </a:lnSpc>
                        <a:buNone/>
                      </a:pPr>
                      <a:r>
                        <a:rPr lang="en-US" sz="1500" dirty="0">
                          <a:solidFill>
                            <a:srgbClr val="1C1A16"/>
                          </a:solidFill>
                          <a:latin typeface="Public Sans" pitchFamily="34" charset="0"/>
                          <a:ea typeface="Public Sans" pitchFamily="34" charset="-122"/>
                          <a:cs typeface="Public Sans" pitchFamily="34" charset="-120"/>
                        </a:rPr>
                        <a:t>100</a:t>
                      </a:r>
                      <a:endParaRPr lang="en-US" sz="1500" dirty="0">
                        <a:latin typeface="Public Sans" charset="0"/>
                        <a:ea typeface="Public Sans" charset="0"/>
                        <a:cs typeface="Public Sans" charset="0"/>
                      </a:endParaRPr>
                    </a:p>
                  </a:txBody>
                  <a:tcPr marL="66675" marR="66675" marT="66675" marB="6667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5949950" y="1929061"/>
            <a:ext cx="5422900" cy="2598341"/>
          </a:xfrm>
          <a:prstGeom prst="roundRect">
            <a:avLst>
              <a:gd name="adj" fmla="val 4643"/>
            </a:avLst>
          </a:prstGeom>
          <a:solidFill>
            <a:srgbClr val="FFFCF3"/>
          </a:solidFill>
          <a:ln w="12700">
            <a:solidFill>
              <a:srgbClr val="E6DCC0"/>
            </a:solidFill>
            <a:prstDash val="solid"/>
          </a:ln>
        </p:spPr>
      </p:sp>
      <p:sp>
        <p:nvSpPr>
          <p:cNvPr id="6" name="Text 3"/>
          <p:cNvSpPr/>
          <p:nvPr/>
        </p:nvSpPr>
        <p:spPr>
          <a:xfrm>
            <a:off x="6210300" y="2189411"/>
            <a:ext cx="5049266"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8A5A00"/>
                </a:solidFill>
                <a:latin typeface="Oswald" pitchFamily="34" charset="0"/>
                <a:ea typeface="Oswald" pitchFamily="34" charset="-122"/>
                <a:cs typeface="Oswald" pitchFamily="34" charset="-120"/>
              </a:rPr>
              <a:t>Food source initialization</a:t>
            </a:r>
            <a:endParaRPr lang="en-US" sz="2400" dirty="0"/>
          </a:p>
        </p:txBody>
      </p:sp>
      <p:sp>
        <p:nvSpPr>
          <p:cNvPr id="7" name="Text 4"/>
          <p:cNvSpPr/>
          <p:nvPr/>
        </p:nvSpPr>
        <p:spPr>
          <a:xfrm>
            <a:off x="6210300" y="2682131"/>
            <a:ext cx="4902200" cy="657820"/>
          </a:xfrm>
          <a:prstGeom prst="roundRect">
            <a:avLst>
              <a:gd name="adj" fmla="val 11584"/>
            </a:avLst>
          </a:prstGeom>
          <a:solidFill>
            <a:srgbClr val="1C1A16"/>
          </a:solidFill>
          <a:ln/>
        </p:spPr>
        <p:txBody>
          <a:bodyPr wrap="square" lIns="155482" tIns="155482" rIns="19084" bIns="130082" rtlCol="0" anchor="t">
            <a:normAutofit/>
          </a:bodyPr>
          <a:lstStyle/>
          <a:p>
            <a:pPr marL="0" indent="0" algn="l">
              <a:lnSpc>
                <a:spcPts val="2380"/>
              </a:lnSpc>
              <a:buNone/>
            </a:pPr>
            <a:r>
              <a:rPr lang="en-US" sz="1700" b="1" dirty="0">
                <a:solidFill>
                  <a:srgbClr val="FAF5E8"/>
                </a:solidFill>
                <a:latin typeface="Public Sans" pitchFamily="34" charset="0"/>
                <a:ea typeface="Public Sans" pitchFamily="34" charset="-122"/>
                <a:cs typeface="Public Sans" pitchFamily="34" charset="-120"/>
              </a:rPr>
              <a:t>x(i,j) = x_min,j + rand(0,1) · (x_max,j − x_min,j)</a:t>
            </a:r>
            <a:endParaRPr lang="en-US" sz="1700" dirty="0"/>
          </a:p>
        </p:txBody>
      </p:sp>
      <p:sp>
        <p:nvSpPr>
          <p:cNvPr id="8" name="Text 5"/>
          <p:cNvSpPr/>
          <p:nvPr/>
        </p:nvSpPr>
        <p:spPr>
          <a:xfrm>
            <a:off x="6210300" y="3466951"/>
            <a:ext cx="504926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i = 1…50 food sources (one per employed bee)</a:t>
            </a:r>
            <a:endParaRPr lang="en-US" sz="1500" dirty="0"/>
          </a:p>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j = 1…2 dimensions (x1, x2)</a:t>
            </a:r>
            <a:endParaRPr lang="en-US" sz="1500" dirty="0"/>
          </a:p>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x_min = −5 and x_max = +5</a:t>
            </a:r>
            <a:endParaRPr lang="en-US" sz="1500" dirty="0"/>
          </a:p>
        </p:txBody>
      </p:sp>
      <p:sp>
        <p:nvSpPr>
          <p:cNvPr id="9" name="Text 6"/>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446"/>
                </a:solidFill>
                <a:latin typeface="Public Sans" pitchFamily="34" charset="0"/>
                <a:ea typeface="Public Sans" pitchFamily="34" charset="-122"/>
                <a:cs typeface="Public Sans" pitchFamily="34" charset="-120"/>
              </a:rPr>
              <a:t>Artificial Bee Colony · 2D Ackley</a:t>
            </a:r>
            <a:endParaRPr lang="en-US" sz="1200" dirty="0"/>
          </a:p>
        </p:txBody>
      </p:sp>
      <p:sp>
        <p:nvSpPr>
          <p:cNvPr id="10" name="Text 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446"/>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8A5A00"/>
                </a:solidFill>
                <a:latin typeface="Public Sans" pitchFamily="34" charset="0"/>
                <a:ea typeface="Public Sans" pitchFamily="34" charset="-122"/>
                <a:cs typeface="Public Sans" pitchFamily="34" charset="-120"/>
              </a:rPr>
              <a:t>STEP 3</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C1A16"/>
                </a:solidFill>
                <a:latin typeface="Oswald" pitchFamily="34" charset="0"/>
                <a:ea typeface="Oswald" pitchFamily="34" charset="-122"/>
                <a:cs typeface="Oswald" pitchFamily="34" charset="-120"/>
              </a:rPr>
              <a:t>Employed and onlooker bees</a:t>
            </a:r>
            <a:endParaRPr lang="en-US" sz="3800" dirty="0"/>
          </a:p>
        </p:txBody>
      </p:sp>
      <p:sp>
        <p:nvSpPr>
          <p:cNvPr id="4" name="Shape 2"/>
          <p:cNvSpPr/>
          <p:nvPr/>
        </p:nvSpPr>
        <p:spPr>
          <a:xfrm>
            <a:off x="819150" y="1929061"/>
            <a:ext cx="5168900" cy="2598341"/>
          </a:xfrm>
          <a:prstGeom prst="roundRect">
            <a:avLst>
              <a:gd name="adj" fmla="val 4643"/>
            </a:avLst>
          </a:prstGeom>
          <a:solidFill>
            <a:srgbClr val="FFFCF3"/>
          </a:solidFill>
          <a:ln w="12700">
            <a:solidFill>
              <a:srgbClr val="E6DCC0"/>
            </a:solidFill>
            <a:prstDash val="solid"/>
          </a:ln>
        </p:spPr>
      </p:sp>
      <p:sp>
        <p:nvSpPr>
          <p:cNvPr id="5" name="Text 3"/>
          <p:cNvSpPr/>
          <p:nvPr/>
        </p:nvSpPr>
        <p:spPr>
          <a:xfrm>
            <a:off x="1079500" y="2189411"/>
            <a:ext cx="4787646"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8A5A00"/>
                </a:solidFill>
                <a:latin typeface="Oswald" pitchFamily="34" charset="0"/>
                <a:ea typeface="Oswald" pitchFamily="34" charset="-122"/>
                <a:cs typeface="Oswald" pitchFamily="34" charset="-120"/>
              </a:rPr>
              <a:t>Employed bee phase</a:t>
            </a:r>
            <a:endParaRPr lang="en-US" sz="2400" dirty="0"/>
          </a:p>
        </p:txBody>
      </p:sp>
      <p:sp>
        <p:nvSpPr>
          <p:cNvPr id="6" name="Text 4"/>
          <p:cNvSpPr/>
          <p:nvPr/>
        </p:nvSpPr>
        <p:spPr>
          <a:xfrm>
            <a:off x="1079500" y="2682131"/>
            <a:ext cx="4648200" cy="657820"/>
          </a:xfrm>
          <a:prstGeom prst="roundRect">
            <a:avLst>
              <a:gd name="adj" fmla="val 11584"/>
            </a:avLst>
          </a:prstGeom>
          <a:solidFill>
            <a:srgbClr val="1C1A16"/>
          </a:solidFill>
          <a:ln/>
        </p:spPr>
        <p:txBody>
          <a:bodyPr wrap="square" lIns="155482" tIns="155482" rIns="26704" bIns="130082" rtlCol="0" anchor="t">
            <a:normAutofit/>
          </a:bodyPr>
          <a:lstStyle/>
          <a:p>
            <a:pPr marL="0" indent="0" algn="l">
              <a:lnSpc>
                <a:spcPts val="2380"/>
              </a:lnSpc>
              <a:buNone/>
            </a:pPr>
            <a:r>
              <a:rPr lang="en-US" sz="1700" b="1" dirty="0">
                <a:solidFill>
                  <a:srgbClr val="FAF5E8"/>
                </a:solidFill>
                <a:latin typeface="Public Sans" pitchFamily="34" charset="0"/>
                <a:ea typeface="Public Sans" pitchFamily="34" charset="-122"/>
                <a:cs typeface="Public Sans" pitchFamily="34" charset="-120"/>
              </a:rPr>
              <a:t>v(i,j) = x(i,j) + φ · (x(i,j) − x(k,j))</a:t>
            </a:r>
            <a:endParaRPr lang="en-US" sz="1700" dirty="0"/>
          </a:p>
        </p:txBody>
      </p:sp>
      <p:sp>
        <p:nvSpPr>
          <p:cNvPr id="7" name="Text 5"/>
          <p:cNvSpPr/>
          <p:nvPr/>
        </p:nvSpPr>
        <p:spPr>
          <a:xfrm>
            <a:off x="1163320" y="3466951"/>
            <a:ext cx="4696206" cy="825500"/>
          </a:xfrm>
          <a:prstGeom prst="rect">
            <a:avLst/>
          </a:prstGeom>
          <a:noFill/>
          <a:ln/>
        </p:spPr>
        <p:txBody>
          <a:bodyPr wrap="square" lIns="0" tIns="0" rIns="0" bIns="0" rtlCol="0" anchor="t">
            <a:normAutofit/>
          </a:bodyPr>
          <a:lstStyle/>
          <a:p>
            <a:pPr marL="170180" indent="-170180" algn="l">
              <a:lnSpc>
                <a:spcPts val="2100"/>
              </a:lnSpc>
              <a:buSzPct val="100000"/>
              <a:buChar char="•"/>
            </a:pPr>
            <a:r>
              <a:rPr lang="en-US" sz="1500" dirty="0">
                <a:solidFill>
                  <a:srgbClr val="3D382D"/>
                </a:solidFill>
                <a:latin typeface="Public Sans" pitchFamily="34" charset="0"/>
                <a:ea typeface="Public Sans" pitchFamily="34" charset="-122"/>
                <a:cs typeface="Public Sans" pitchFamily="34" charset="-120"/>
              </a:rPr>
              <a:t>φ = rand(−1, 1)</a:t>
            </a:r>
            <a:endParaRPr lang="en-US" sz="1500" dirty="0"/>
          </a:p>
          <a:p>
            <a:pPr marL="170180" indent="-170180" algn="l">
              <a:lnSpc>
                <a:spcPts val="2100"/>
              </a:lnSpc>
              <a:buSzPct val="100000"/>
              <a:buChar char="•"/>
            </a:pPr>
            <a:r>
              <a:rPr lang="en-US" sz="1500" dirty="0">
                <a:solidFill>
                  <a:srgbClr val="3D382D"/>
                </a:solidFill>
                <a:latin typeface="Public Sans" pitchFamily="34" charset="0"/>
                <a:ea typeface="Public Sans" pitchFamily="34" charset="-122"/>
                <a:cs typeface="Public Sans" pitchFamily="34" charset="-120"/>
              </a:rPr>
              <a:t>k = random source, k ≠ i</a:t>
            </a:r>
            <a:endParaRPr lang="en-US" sz="1500" dirty="0"/>
          </a:p>
          <a:p>
            <a:pPr marL="170180" indent="-170180" algn="l">
              <a:lnSpc>
                <a:spcPts val="2100"/>
              </a:lnSpc>
              <a:buSzPct val="100000"/>
              <a:buChar char="•"/>
            </a:pPr>
            <a:r>
              <a:rPr lang="en-US" sz="1500" dirty="0">
                <a:solidFill>
                  <a:srgbClr val="3D382D"/>
                </a:solidFill>
                <a:latin typeface="Public Sans" pitchFamily="34" charset="0"/>
                <a:ea typeface="Public Sans" pitchFamily="34" charset="-122"/>
                <a:cs typeface="Public Sans" pitchFamily="34" charset="-120"/>
              </a:rPr>
              <a:t>Keep the better of f(x_i) and f(v_i)</a:t>
            </a:r>
            <a:endParaRPr lang="en-US" sz="1500" dirty="0"/>
          </a:p>
        </p:txBody>
      </p:sp>
      <p:sp>
        <p:nvSpPr>
          <p:cNvPr id="8" name="Shape 6"/>
          <p:cNvSpPr/>
          <p:nvPr/>
        </p:nvSpPr>
        <p:spPr>
          <a:xfrm>
            <a:off x="6203950" y="1929061"/>
            <a:ext cx="5168900" cy="2598341"/>
          </a:xfrm>
          <a:prstGeom prst="roundRect">
            <a:avLst>
              <a:gd name="adj" fmla="val 4643"/>
            </a:avLst>
          </a:prstGeom>
          <a:solidFill>
            <a:srgbClr val="FFFCF3"/>
          </a:solidFill>
          <a:ln w="12700">
            <a:solidFill>
              <a:srgbClr val="E6DCC0"/>
            </a:solidFill>
            <a:prstDash val="solid"/>
          </a:ln>
        </p:spPr>
      </p:sp>
      <p:sp>
        <p:nvSpPr>
          <p:cNvPr id="9" name="Text 7"/>
          <p:cNvSpPr/>
          <p:nvPr/>
        </p:nvSpPr>
        <p:spPr>
          <a:xfrm>
            <a:off x="6464300" y="2189411"/>
            <a:ext cx="4787646"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8A5A00"/>
                </a:solidFill>
                <a:latin typeface="Oswald" pitchFamily="34" charset="0"/>
                <a:ea typeface="Oswald" pitchFamily="34" charset="-122"/>
                <a:cs typeface="Oswald" pitchFamily="34" charset="-120"/>
              </a:rPr>
              <a:t>Onlooker bee phase</a:t>
            </a:r>
            <a:endParaRPr lang="en-US" sz="2400" dirty="0"/>
          </a:p>
        </p:txBody>
      </p:sp>
      <p:sp>
        <p:nvSpPr>
          <p:cNvPr id="10" name="Text 8"/>
          <p:cNvSpPr/>
          <p:nvPr/>
        </p:nvSpPr>
        <p:spPr>
          <a:xfrm>
            <a:off x="6464300" y="2682131"/>
            <a:ext cx="4648200" cy="657820"/>
          </a:xfrm>
          <a:prstGeom prst="roundRect">
            <a:avLst>
              <a:gd name="adj" fmla="val 11584"/>
            </a:avLst>
          </a:prstGeom>
          <a:solidFill>
            <a:srgbClr val="1C1A16"/>
          </a:solidFill>
          <a:ln/>
        </p:spPr>
        <p:txBody>
          <a:bodyPr wrap="square" lIns="155482" tIns="155482" rIns="26704" bIns="130082" rtlCol="0" anchor="t">
            <a:normAutofit/>
          </a:bodyPr>
          <a:lstStyle/>
          <a:p>
            <a:pPr marL="0" indent="0" algn="l">
              <a:lnSpc>
                <a:spcPts val="2380"/>
              </a:lnSpc>
              <a:buNone/>
            </a:pPr>
            <a:r>
              <a:rPr lang="en-US" sz="1700" b="1" dirty="0">
                <a:solidFill>
                  <a:srgbClr val="FAF5E8"/>
                </a:solidFill>
                <a:latin typeface="Public Sans" pitchFamily="34" charset="0"/>
                <a:ea typeface="Public Sans" pitchFamily="34" charset="-122"/>
                <a:cs typeface="Public Sans" pitchFamily="34" charset="-120"/>
              </a:rPr>
              <a:t>P(x_i) = fit(x_i) / Σ fit(x_i)</a:t>
            </a:r>
            <a:endParaRPr lang="en-US" sz="1700" dirty="0"/>
          </a:p>
        </p:txBody>
      </p:sp>
      <p:sp>
        <p:nvSpPr>
          <p:cNvPr id="11" name="Text 9"/>
          <p:cNvSpPr/>
          <p:nvPr/>
        </p:nvSpPr>
        <p:spPr>
          <a:xfrm>
            <a:off x="6548120" y="3466951"/>
            <a:ext cx="4696206" cy="825500"/>
          </a:xfrm>
          <a:prstGeom prst="rect">
            <a:avLst/>
          </a:prstGeom>
          <a:noFill/>
          <a:ln/>
        </p:spPr>
        <p:txBody>
          <a:bodyPr wrap="square" lIns="0" tIns="0" rIns="0" bIns="0" rtlCol="0" anchor="t">
            <a:normAutofit/>
          </a:bodyPr>
          <a:lstStyle/>
          <a:p>
            <a:pPr marL="170180" indent="-170180" algn="l">
              <a:lnSpc>
                <a:spcPts val="2100"/>
              </a:lnSpc>
              <a:buSzPct val="100000"/>
              <a:buChar char="•"/>
            </a:pPr>
            <a:r>
              <a:rPr lang="en-US" sz="1500" dirty="0">
                <a:solidFill>
                  <a:srgbClr val="3D382D"/>
                </a:solidFill>
                <a:latin typeface="Public Sans" pitchFamily="34" charset="0"/>
                <a:ea typeface="Public Sans" pitchFamily="34" charset="-122"/>
                <a:cs typeface="Public Sans" pitchFamily="34" charset="-120"/>
              </a:rPr>
              <a:t>Roulette wheel picks a source by P</a:t>
            </a:r>
            <a:endParaRPr lang="en-US" sz="1500" dirty="0"/>
          </a:p>
          <a:p>
            <a:pPr marL="170180" indent="-170180" algn="l">
              <a:lnSpc>
                <a:spcPts val="2100"/>
              </a:lnSpc>
              <a:buSzPct val="100000"/>
              <a:buChar char="•"/>
            </a:pPr>
            <a:r>
              <a:rPr lang="en-US" sz="1500" dirty="0">
                <a:solidFill>
                  <a:srgbClr val="3D382D"/>
                </a:solidFill>
                <a:latin typeface="Public Sans" pitchFamily="34" charset="0"/>
                <a:ea typeface="Public Sans" pitchFamily="34" charset="-122"/>
                <a:cs typeface="Public Sans" pitchFamily="34" charset="-120"/>
              </a:rPr>
              <a:t>Evolve it exactly like an employed bee</a:t>
            </a:r>
            <a:endParaRPr lang="en-US" sz="1500" dirty="0"/>
          </a:p>
          <a:p>
            <a:pPr marL="170180" indent="-170180" algn="l">
              <a:lnSpc>
                <a:spcPts val="2100"/>
              </a:lnSpc>
              <a:buSzPct val="100000"/>
              <a:buChar char="•"/>
            </a:pPr>
            <a:r>
              <a:rPr lang="en-US" sz="1500" dirty="0">
                <a:solidFill>
                  <a:srgbClr val="3D382D"/>
                </a:solidFill>
                <a:latin typeface="Public Sans" pitchFamily="34" charset="0"/>
                <a:ea typeface="Public Sans" pitchFamily="34" charset="-122"/>
                <a:cs typeface="Public Sans" pitchFamily="34" charset="-120"/>
              </a:rPr>
              <a:t>fit = 1/(1+f): lower Ackley value, bigger slice</a:t>
            </a:r>
            <a:endParaRPr lang="en-US" sz="1500" dirty="0"/>
          </a:p>
        </p:txBody>
      </p:sp>
      <p:sp>
        <p:nvSpPr>
          <p:cNvPr id="12" name="Text 10"/>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446"/>
                </a:solidFill>
                <a:latin typeface="Public Sans" pitchFamily="34" charset="0"/>
                <a:ea typeface="Public Sans" pitchFamily="34" charset="-122"/>
                <a:cs typeface="Public Sans" pitchFamily="34" charset="-120"/>
              </a:rPr>
              <a:t>Artificial Bee Colony · 2D Ackley</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446"/>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8A5A00"/>
                </a:solidFill>
                <a:latin typeface="Public Sans" pitchFamily="34" charset="0"/>
                <a:ea typeface="Public Sans" pitchFamily="34" charset="-122"/>
                <a:cs typeface="Public Sans" pitchFamily="34" charset="-120"/>
              </a:rPr>
              <a:t>STEPS 3 AND 4</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C1A16"/>
                </a:solidFill>
                <a:latin typeface="Oswald" pitchFamily="34" charset="0"/>
                <a:ea typeface="Oswald" pitchFamily="34" charset="-122"/>
                <a:cs typeface="Oswald" pitchFamily="34" charset="-120"/>
              </a:rPr>
              <a:t>Scouts, memory and stopping</a:t>
            </a:r>
            <a:endParaRPr lang="en-US" sz="3800" dirty="0"/>
          </a:p>
        </p:txBody>
      </p:sp>
      <p:sp>
        <p:nvSpPr>
          <p:cNvPr id="4" name="Shape 2"/>
          <p:cNvSpPr/>
          <p:nvPr/>
        </p:nvSpPr>
        <p:spPr>
          <a:xfrm>
            <a:off x="819150" y="1929061"/>
            <a:ext cx="5168900" cy="3167261"/>
          </a:xfrm>
          <a:prstGeom prst="roundRect">
            <a:avLst>
              <a:gd name="adj" fmla="val 3809"/>
            </a:avLst>
          </a:prstGeom>
          <a:solidFill>
            <a:srgbClr val="FFFCF3"/>
          </a:solidFill>
          <a:ln w="12700">
            <a:solidFill>
              <a:srgbClr val="E6DCC0"/>
            </a:solidFill>
            <a:prstDash val="solid"/>
          </a:ln>
        </p:spPr>
      </p:sp>
      <p:sp>
        <p:nvSpPr>
          <p:cNvPr id="5" name="Text 3"/>
          <p:cNvSpPr/>
          <p:nvPr/>
        </p:nvSpPr>
        <p:spPr>
          <a:xfrm>
            <a:off x="1079500" y="2189411"/>
            <a:ext cx="4787646"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8A5A00"/>
                </a:solidFill>
                <a:latin typeface="Oswald" pitchFamily="34" charset="0"/>
                <a:ea typeface="Oswald" pitchFamily="34" charset="-122"/>
                <a:cs typeface="Oswald" pitchFamily="34" charset="-120"/>
              </a:rPr>
              <a:t>Scout bee phase</a:t>
            </a:r>
            <a:endParaRPr lang="en-US" sz="2400" dirty="0"/>
          </a:p>
        </p:txBody>
      </p:sp>
      <p:sp>
        <p:nvSpPr>
          <p:cNvPr id="6" name="Text 4"/>
          <p:cNvSpPr/>
          <p:nvPr/>
        </p:nvSpPr>
        <p:spPr>
          <a:xfrm>
            <a:off x="1079500" y="2682131"/>
            <a:ext cx="4648200" cy="960041"/>
          </a:xfrm>
          <a:prstGeom prst="roundRect">
            <a:avLst>
              <a:gd name="adj" fmla="val 7937"/>
            </a:avLst>
          </a:prstGeom>
          <a:solidFill>
            <a:srgbClr val="1C1A16"/>
          </a:solidFill>
          <a:ln/>
        </p:spPr>
        <p:txBody>
          <a:bodyPr wrap="square" lIns="155482" tIns="155482" rIns="26704" bIns="130082" rtlCol="0" anchor="t">
            <a:normAutofit/>
          </a:bodyPr>
          <a:lstStyle/>
          <a:p>
            <a:pPr marL="0" indent="0" algn="l">
              <a:lnSpc>
                <a:spcPts val="2380"/>
              </a:lnSpc>
              <a:buNone/>
            </a:pPr>
            <a:r>
              <a:rPr lang="en-US" sz="1700" b="1" dirty="0">
                <a:solidFill>
                  <a:srgbClr val="FAF5E8"/>
                </a:solidFill>
                <a:latin typeface="Public Sans" pitchFamily="34" charset="0"/>
                <a:ea typeface="Public Sans" pitchFamily="34" charset="-122"/>
                <a:cs typeface="Public Sans" pitchFamily="34" charset="-120"/>
              </a:rPr>
              <a:t>x(i,j) = x_min,j + rand(0,1) · (x_max,j − x_min,j)</a:t>
            </a:r>
            <a:endParaRPr lang="en-US" sz="1700" dirty="0"/>
          </a:p>
        </p:txBody>
      </p:sp>
      <p:sp>
        <p:nvSpPr>
          <p:cNvPr id="7" name="Text 5"/>
          <p:cNvSpPr/>
          <p:nvPr/>
        </p:nvSpPr>
        <p:spPr>
          <a:xfrm>
            <a:off x="1163320" y="3769171"/>
            <a:ext cx="4696206" cy="1092200"/>
          </a:xfrm>
          <a:prstGeom prst="rect">
            <a:avLst/>
          </a:prstGeom>
          <a:noFill/>
          <a:ln/>
        </p:spPr>
        <p:txBody>
          <a:bodyPr wrap="square" lIns="0" tIns="0" rIns="0" bIns="0" rtlCol="0" anchor="t">
            <a:normAutofit/>
          </a:bodyPr>
          <a:lstStyle/>
          <a:p>
            <a:pPr marL="170180" indent="-170180" algn="l">
              <a:lnSpc>
                <a:spcPts val="2100"/>
              </a:lnSpc>
              <a:buSzPct val="100000"/>
              <a:buChar char="•"/>
            </a:pPr>
            <a:r>
              <a:rPr lang="en-US" sz="1500" dirty="0">
                <a:solidFill>
                  <a:srgbClr val="3D382D"/>
                </a:solidFill>
                <a:latin typeface="Public Sans" pitchFamily="34" charset="0"/>
                <a:ea typeface="Public Sans" pitchFamily="34" charset="-122"/>
                <a:cs typeface="Public Sans" pitchFamily="34" charset="-120"/>
              </a:rPr>
              <a:t>A source not improved for limit = 20 cycles is abandoned</a:t>
            </a:r>
            <a:endParaRPr lang="en-US" sz="1500" dirty="0"/>
          </a:p>
          <a:p>
            <a:pPr marL="170180" indent="-170180" algn="l">
              <a:lnSpc>
                <a:spcPts val="2100"/>
              </a:lnSpc>
              <a:buSzPct val="100000"/>
              <a:buChar char="•"/>
            </a:pPr>
            <a:r>
              <a:rPr lang="en-US" sz="1500" dirty="0">
                <a:solidFill>
                  <a:srgbClr val="3D382D"/>
                </a:solidFill>
                <a:latin typeface="Public Sans" pitchFamily="34" charset="0"/>
                <a:ea typeface="Public Sans" pitchFamily="34" charset="-122"/>
                <a:cs typeface="Public Sans" pitchFamily="34" charset="-120"/>
              </a:rPr>
              <a:t>Its bee becomes a scout and restarts at a random position</a:t>
            </a:r>
            <a:endParaRPr lang="en-US" sz="1500" dirty="0"/>
          </a:p>
        </p:txBody>
      </p:sp>
      <p:sp>
        <p:nvSpPr>
          <p:cNvPr id="8" name="Shape 6"/>
          <p:cNvSpPr/>
          <p:nvPr/>
        </p:nvSpPr>
        <p:spPr>
          <a:xfrm>
            <a:off x="6203950" y="1929061"/>
            <a:ext cx="5168900" cy="3167261"/>
          </a:xfrm>
          <a:prstGeom prst="roundRect">
            <a:avLst>
              <a:gd name="adj" fmla="val 3809"/>
            </a:avLst>
          </a:prstGeom>
          <a:solidFill>
            <a:srgbClr val="FFFCF3"/>
          </a:solidFill>
          <a:ln w="12700">
            <a:solidFill>
              <a:srgbClr val="E6DCC0"/>
            </a:solidFill>
            <a:prstDash val="solid"/>
          </a:ln>
        </p:spPr>
      </p:sp>
      <p:sp>
        <p:nvSpPr>
          <p:cNvPr id="9" name="Text 7"/>
          <p:cNvSpPr/>
          <p:nvPr/>
        </p:nvSpPr>
        <p:spPr>
          <a:xfrm>
            <a:off x="6464300" y="2189411"/>
            <a:ext cx="4787646"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8A5A00"/>
                </a:solidFill>
                <a:latin typeface="Oswald" pitchFamily="34" charset="0"/>
                <a:ea typeface="Oswald" pitchFamily="34" charset="-122"/>
                <a:cs typeface="Oswald" pitchFamily="34" charset="-120"/>
              </a:rPr>
              <a:t>Memorize and stop</a:t>
            </a:r>
            <a:endParaRPr lang="en-US" sz="2400" dirty="0"/>
          </a:p>
        </p:txBody>
      </p:sp>
      <p:sp>
        <p:nvSpPr>
          <p:cNvPr id="10" name="Text 8"/>
          <p:cNvSpPr/>
          <p:nvPr/>
        </p:nvSpPr>
        <p:spPr>
          <a:xfrm>
            <a:off x="6464300" y="2682131"/>
            <a:ext cx="4648200" cy="657820"/>
          </a:xfrm>
          <a:prstGeom prst="roundRect">
            <a:avLst>
              <a:gd name="adj" fmla="val 11584"/>
            </a:avLst>
          </a:prstGeom>
          <a:solidFill>
            <a:srgbClr val="1C1A16"/>
          </a:solidFill>
          <a:ln/>
        </p:spPr>
        <p:txBody>
          <a:bodyPr wrap="square" lIns="155482" tIns="155482" rIns="26704" bIns="130082" rtlCol="0" anchor="t">
            <a:normAutofit/>
          </a:bodyPr>
          <a:lstStyle/>
          <a:p>
            <a:pPr marL="0" indent="0" algn="l">
              <a:lnSpc>
                <a:spcPts val="2380"/>
              </a:lnSpc>
              <a:buNone/>
            </a:pPr>
            <a:r>
              <a:rPr lang="en-US" sz="1700" b="1" dirty="0">
                <a:solidFill>
                  <a:srgbClr val="FAF5E8"/>
                </a:solidFill>
                <a:latin typeface="Public Sans" pitchFamily="34" charset="0"/>
                <a:ea typeface="Public Sans" pitchFamily="34" charset="-122"/>
                <a:cs typeface="Public Sans" pitchFamily="34" charset="-120"/>
              </a:rPr>
              <a:t>stop when f ≤ 1e-6 or cycle = 100</a:t>
            </a:r>
            <a:endParaRPr lang="en-US" sz="1700" dirty="0"/>
          </a:p>
        </p:txBody>
      </p:sp>
      <p:sp>
        <p:nvSpPr>
          <p:cNvPr id="11" name="Text 9"/>
          <p:cNvSpPr/>
          <p:nvPr/>
        </p:nvSpPr>
        <p:spPr>
          <a:xfrm>
            <a:off x="6548120" y="3466951"/>
            <a:ext cx="4696206" cy="825500"/>
          </a:xfrm>
          <a:prstGeom prst="rect">
            <a:avLst/>
          </a:prstGeom>
          <a:noFill/>
          <a:ln/>
        </p:spPr>
        <p:txBody>
          <a:bodyPr wrap="square" lIns="0" tIns="0" rIns="0" bIns="0" rtlCol="0" anchor="t">
            <a:normAutofit/>
          </a:bodyPr>
          <a:lstStyle/>
          <a:p>
            <a:pPr marL="170180" indent="-170180" algn="l">
              <a:lnSpc>
                <a:spcPts val="2100"/>
              </a:lnSpc>
              <a:buSzPct val="100000"/>
              <a:buChar char="•"/>
            </a:pPr>
            <a:r>
              <a:rPr lang="en-US" sz="1500" dirty="0">
                <a:solidFill>
                  <a:srgbClr val="3D382D"/>
                </a:solidFill>
                <a:latin typeface="Public Sans" pitchFamily="34" charset="0"/>
                <a:ea typeface="Public Sans" pitchFamily="34" charset="-122"/>
                <a:cs typeface="Public Sans" pitchFamily="34" charset="-120"/>
              </a:rPr>
              <a:t>The best solution found so far is memorized every cycle</a:t>
            </a:r>
            <a:endParaRPr lang="en-US" sz="1500" dirty="0"/>
          </a:p>
          <a:p>
            <a:pPr marL="170180" indent="-170180" algn="l">
              <a:lnSpc>
                <a:spcPts val="2100"/>
              </a:lnSpc>
              <a:buSzPct val="100000"/>
              <a:buChar char="•"/>
            </a:pPr>
            <a:r>
              <a:rPr lang="en-US" sz="1500" dirty="0">
                <a:solidFill>
                  <a:srgbClr val="3D382D"/>
                </a:solidFill>
                <a:latin typeface="Public Sans" pitchFamily="34" charset="0"/>
                <a:ea typeface="Public Sans" pitchFamily="34" charset="-122"/>
                <a:cs typeface="Public Sans" pitchFamily="34" charset="-120"/>
              </a:rPr>
              <a:t>So the best value never gets worse</a:t>
            </a:r>
            <a:endParaRPr lang="en-US" sz="1500" dirty="0"/>
          </a:p>
        </p:txBody>
      </p:sp>
      <p:sp>
        <p:nvSpPr>
          <p:cNvPr id="12" name="Text 10"/>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446"/>
                </a:solidFill>
                <a:latin typeface="Public Sans" pitchFamily="34" charset="0"/>
                <a:ea typeface="Public Sans" pitchFamily="34" charset="-122"/>
                <a:cs typeface="Public Sans" pitchFamily="34" charset="-120"/>
              </a:rPr>
              <a:t>Artificial Bee Colony · 2D Ackley</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446"/>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8A5A00"/>
                </a:solidFill>
                <a:latin typeface="Public Sans" pitchFamily="34" charset="0"/>
                <a:ea typeface="Public Sans" pitchFamily="34" charset="-122"/>
                <a:cs typeface="Public Sans" pitchFamily="34" charset="-120"/>
              </a:rPr>
              <a:t>RESULTS</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C1A16"/>
                </a:solidFill>
                <a:latin typeface="Oswald" pitchFamily="34" charset="0"/>
                <a:ea typeface="Oswald" pitchFamily="34" charset="-122"/>
                <a:cs typeface="Oswald" pitchFamily="34" charset="-120"/>
              </a:rPr>
              <a:t>The swarm moves to (0, 0)</a:t>
            </a:r>
            <a:endParaRPr lang="en-US" sz="3800" dirty="0"/>
          </a:p>
        </p:txBody>
      </p:sp>
      <p:pic>
        <p:nvPicPr>
          <p:cNvPr id="4" name="Image 0" descr="Food sources scattered randomly over the Ackley surface at cycle 0"/>
          <p:cNvPicPr>
            <a:picLocks noChangeAspect="1"/>
          </p:cNvPicPr>
          <p:nvPr/>
        </p:nvPicPr>
        <p:blipFill>
          <a:blip r:embed="rId3"/>
          <a:srcRect/>
          <a:stretch/>
        </p:blipFill>
        <p:spPr>
          <a:xfrm>
            <a:off x="812800" y="1922711"/>
            <a:ext cx="3302000" cy="2794000"/>
          </a:xfrm>
          <a:prstGeom prst="roundRect">
            <a:avLst>
              <a:gd name="adj" fmla="val 2727"/>
            </a:avLst>
          </a:prstGeom>
        </p:spPr>
      </p:pic>
      <p:sp>
        <p:nvSpPr>
          <p:cNvPr id="5" name="Text 2"/>
          <p:cNvSpPr/>
          <p:nvPr/>
        </p:nvSpPr>
        <p:spPr>
          <a:xfrm>
            <a:off x="812800" y="4818311"/>
            <a:ext cx="34010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Cycle 0 · best f = 4.3193</a:t>
            </a:r>
            <a:endParaRPr lang="en-US" sz="1500" dirty="0"/>
          </a:p>
        </p:txBody>
      </p:sp>
      <p:pic>
        <p:nvPicPr>
          <p:cNvPr id="6" name="Image 1" descr="Food sources gathering near the center at cycle 8"/>
          <p:cNvPicPr>
            <a:picLocks noChangeAspect="1"/>
          </p:cNvPicPr>
          <p:nvPr/>
        </p:nvPicPr>
        <p:blipFill>
          <a:blip r:embed="rId4"/>
          <a:srcRect/>
          <a:stretch/>
        </p:blipFill>
        <p:spPr>
          <a:xfrm>
            <a:off x="4445000" y="1922711"/>
            <a:ext cx="3302000" cy="2794000"/>
          </a:xfrm>
          <a:prstGeom prst="roundRect">
            <a:avLst>
              <a:gd name="adj" fmla="val 2727"/>
            </a:avLst>
          </a:prstGeom>
        </p:spPr>
      </p:pic>
      <p:sp>
        <p:nvSpPr>
          <p:cNvPr id="7" name="Text 3"/>
          <p:cNvSpPr/>
          <p:nvPr/>
        </p:nvSpPr>
        <p:spPr>
          <a:xfrm>
            <a:off x="4445000" y="4818311"/>
            <a:ext cx="34010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Cycle 8 · best f = 0.0119</a:t>
            </a:r>
            <a:endParaRPr lang="en-US" sz="1500" dirty="0"/>
          </a:p>
        </p:txBody>
      </p:sp>
      <p:pic>
        <p:nvPicPr>
          <p:cNvPr id="8" name="Image 2" descr="Most food sources clustered at the global minimum at cycle 25"/>
          <p:cNvPicPr>
            <a:picLocks noChangeAspect="1"/>
          </p:cNvPicPr>
          <p:nvPr/>
        </p:nvPicPr>
        <p:blipFill>
          <a:blip r:embed="rId5"/>
          <a:srcRect/>
          <a:stretch/>
        </p:blipFill>
        <p:spPr>
          <a:xfrm>
            <a:off x="8077200" y="1922711"/>
            <a:ext cx="3302000" cy="2794000"/>
          </a:xfrm>
          <a:prstGeom prst="roundRect">
            <a:avLst>
              <a:gd name="adj" fmla="val 2727"/>
            </a:avLst>
          </a:prstGeom>
        </p:spPr>
      </p:pic>
      <p:sp>
        <p:nvSpPr>
          <p:cNvPr id="9" name="Text 4"/>
          <p:cNvSpPr/>
          <p:nvPr/>
        </p:nvSpPr>
        <p:spPr>
          <a:xfrm>
            <a:off x="8077200" y="4818311"/>
            <a:ext cx="34010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Cycle 25 · best f = 0.00013</a:t>
            </a:r>
            <a:endParaRPr lang="en-US" sz="1500" dirty="0"/>
          </a:p>
        </p:txBody>
      </p:sp>
      <p:sp>
        <p:nvSpPr>
          <p:cNvPr id="10" name="Text 5"/>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446"/>
                </a:solidFill>
                <a:latin typeface="Public Sans" pitchFamily="34" charset="0"/>
                <a:ea typeface="Public Sans" pitchFamily="34" charset="-122"/>
                <a:cs typeface="Public Sans" pitchFamily="34" charset="-120"/>
              </a:rPr>
              <a:t>Artificial Bee Colony · 2D Ackley</a:t>
            </a:r>
            <a:endParaRPr lang="en-US" sz="1200" dirty="0"/>
          </a:p>
        </p:txBody>
      </p:sp>
      <p:sp>
        <p:nvSpPr>
          <p:cNvPr id="11" name="Text 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446"/>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8A5A00"/>
                </a:solidFill>
                <a:latin typeface="Public Sans" pitchFamily="34" charset="0"/>
                <a:ea typeface="Public Sans" pitchFamily="34" charset="-122"/>
                <a:cs typeface="Public Sans" pitchFamily="34" charset="-120"/>
              </a:rPr>
              <a:t>RESULTS</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C1A16"/>
                </a:solidFill>
                <a:latin typeface="Oswald" pitchFamily="34" charset="0"/>
                <a:ea typeface="Oswald" pitchFamily="34" charset="-122"/>
                <a:cs typeface="Oswald" pitchFamily="34" charset="-120"/>
              </a:rPr>
              <a:t>Convergence to the global minimum</a:t>
            </a:r>
            <a:endParaRPr lang="en-US" sz="3800" dirty="0"/>
          </a:p>
        </p:txBody>
      </p:sp>
      <p:sp>
        <p:nvSpPr>
          <p:cNvPr id="4" name="Shape 2"/>
          <p:cNvSpPr/>
          <p:nvPr/>
        </p:nvSpPr>
        <p:spPr>
          <a:xfrm>
            <a:off x="812800" y="1922711"/>
            <a:ext cx="5715000" cy="3568700"/>
          </a:xfrm>
          <a:prstGeom prst="roundRect">
            <a:avLst>
              <a:gd name="adj" fmla="val 2135"/>
            </a:avLst>
          </a:prstGeom>
          <a:solidFill>
            <a:srgbClr val="FFFFFF"/>
          </a:solidFill>
          <a:ln/>
        </p:spPr>
      </p:sp>
      <p:pic>
        <p:nvPicPr>
          <p:cNvPr id="5" name="Image 0" descr="Line chart of best and mean Ackley value per cycle falling toward zero"/>
          <p:cNvPicPr>
            <a:picLocks noChangeAspect="1"/>
          </p:cNvPicPr>
          <p:nvPr/>
        </p:nvPicPr>
        <p:blipFill>
          <a:blip r:embed="rId3"/>
          <a:srcRect l="-179" r="-179"/>
          <a:stretch/>
        </p:blipFill>
        <p:spPr>
          <a:xfrm>
            <a:off x="825500" y="1935411"/>
            <a:ext cx="5689600" cy="3543300"/>
          </a:xfrm>
          <a:prstGeom prst="roundRect">
            <a:avLst>
              <a:gd name="adj" fmla="val 1792"/>
            </a:avLst>
          </a:prstGeom>
        </p:spPr>
      </p:pic>
      <p:sp>
        <p:nvSpPr>
          <p:cNvPr id="6" name="Shape 3"/>
          <p:cNvSpPr/>
          <p:nvPr/>
        </p:nvSpPr>
        <p:spPr>
          <a:xfrm>
            <a:off x="819150" y="1929061"/>
            <a:ext cx="5702300" cy="3556000"/>
          </a:xfrm>
          <a:prstGeom prst="roundRect">
            <a:avLst>
              <a:gd name="adj" fmla="val 1964"/>
            </a:avLst>
          </a:prstGeom>
          <a:noFill/>
          <a:ln w="12700">
            <a:solidFill>
              <a:srgbClr val="E6DCC0"/>
            </a:solidFill>
            <a:prstDash val="solid"/>
          </a:ln>
        </p:spPr>
      </p:sp>
      <p:sp>
        <p:nvSpPr>
          <p:cNvPr id="7" name="Text 4"/>
          <p:cNvSpPr/>
          <p:nvPr/>
        </p:nvSpPr>
        <p:spPr>
          <a:xfrm>
            <a:off x="6832600" y="2118320"/>
            <a:ext cx="4682998"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8A5A00"/>
                </a:solidFill>
                <a:latin typeface="Oswald" pitchFamily="34" charset="0"/>
                <a:ea typeface="Oswald" pitchFamily="34" charset="-122"/>
                <a:cs typeface="Oswald" pitchFamily="34" charset="-120"/>
              </a:rPr>
              <a:t>52</a:t>
            </a:r>
            <a:endParaRPr lang="en-US" sz="4400" dirty="0"/>
          </a:p>
        </p:txBody>
      </p:sp>
      <p:sp>
        <p:nvSpPr>
          <p:cNvPr id="8" name="Text 5"/>
          <p:cNvSpPr/>
          <p:nvPr/>
        </p:nvSpPr>
        <p:spPr>
          <a:xfrm>
            <a:off x="6832600" y="2758380"/>
            <a:ext cx="468299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cycles to reach f ≤ 1e-6</a:t>
            </a:r>
            <a:endParaRPr lang="en-US" sz="1500" dirty="0"/>
          </a:p>
        </p:txBody>
      </p:sp>
      <p:sp>
        <p:nvSpPr>
          <p:cNvPr id="9" name="Text 6"/>
          <p:cNvSpPr/>
          <p:nvPr/>
        </p:nvSpPr>
        <p:spPr>
          <a:xfrm>
            <a:off x="6832600" y="3253680"/>
            <a:ext cx="4682998"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8A5A00"/>
                </a:solidFill>
                <a:latin typeface="Oswald" pitchFamily="34" charset="0"/>
                <a:ea typeface="Oswald" pitchFamily="34" charset="-122"/>
                <a:cs typeface="Oswald" pitchFamily="34" charset="-120"/>
              </a:rPr>
              <a:t>3.4e-7</a:t>
            </a:r>
            <a:endParaRPr lang="en-US" sz="4400" dirty="0"/>
          </a:p>
        </p:txBody>
      </p:sp>
      <p:sp>
        <p:nvSpPr>
          <p:cNvPr id="10" name="Text 7"/>
          <p:cNvSpPr/>
          <p:nvPr/>
        </p:nvSpPr>
        <p:spPr>
          <a:xfrm>
            <a:off x="6832600" y="3893741"/>
            <a:ext cx="468299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best value found (true minimum is 0)</a:t>
            </a:r>
            <a:endParaRPr lang="en-US" sz="1500" dirty="0"/>
          </a:p>
        </p:txBody>
      </p:sp>
      <p:sp>
        <p:nvSpPr>
          <p:cNvPr id="11" name="Text 8"/>
          <p:cNvSpPr/>
          <p:nvPr/>
        </p:nvSpPr>
        <p:spPr>
          <a:xfrm>
            <a:off x="6832600" y="4389041"/>
            <a:ext cx="4682998"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8A5A00"/>
                </a:solidFill>
                <a:latin typeface="Oswald" pitchFamily="34" charset="0"/>
                <a:ea typeface="Oswald" pitchFamily="34" charset="-122"/>
                <a:cs typeface="Oswald" pitchFamily="34" charset="-120"/>
              </a:rPr>
              <a:t>(0, 0)</a:t>
            </a:r>
            <a:endParaRPr lang="en-US" sz="4400" dirty="0"/>
          </a:p>
        </p:txBody>
      </p:sp>
      <p:sp>
        <p:nvSpPr>
          <p:cNvPr id="12" name="Text 9"/>
          <p:cNvSpPr/>
          <p:nvPr/>
        </p:nvSpPr>
        <p:spPr>
          <a:xfrm>
            <a:off x="6832600" y="5029101"/>
            <a:ext cx="468299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x1 = 0.000000, x2 = −0.000000</a:t>
            </a:r>
            <a:endParaRPr lang="en-US" sz="1500" dirty="0"/>
          </a:p>
        </p:txBody>
      </p:sp>
      <p:sp>
        <p:nvSpPr>
          <p:cNvPr id="13" name="Text 10"/>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446"/>
                </a:solidFill>
                <a:latin typeface="Public Sans" pitchFamily="34" charset="0"/>
                <a:ea typeface="Public Sans" pitchFamily="34" charset="-122"/>
                <a:cs typeface="Public Sans" pitchFamily="34" charset="-120"/>
              </a:rPr>
              <a:t>Artificial Bee Colony · 2D Ackley · seed 42</a:t>
            </a:r>
            <a:endParaRPr lang="en-US" sz="1200" dirty="0"/>
          </a:p>
        </p:txBody>
      </p:sp>
      <p:sp>
        <p:nvSpPr>
          <p:cNvPr id="14"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446"/>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8A5A00"/>
                </a:solidFill>
                <a:latin typeface="Public Sans" pitchFamily="34" charset="0"/>
                <a:ea typeface="Public Sans" pitchFamily="34" charset="-122"/>
                <a:cs typeface="Public Sans" pitchFamily="34" charset="-120"/>
              </a:rPr>
              <a:t>COMPARISON</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C1A16"/>
                </a:solidFill>
                <a:latin typeface="Oswald" pitchFamily="34" charset="0"/>
                <a:ea typeface="Oswald" pitchFamily="34" charset="-122"/>
                <a:cs typeface="Oswald" pitchFamily="34" charset="-120"/>
              </a:rPr>
              <a:t>ABC against a classical optimizer</a:t>
            </a:r>
            <a:endParaRPr lang="en-US" sz="3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35411"/>
          <a:ext cx="10553700" cy="2330152"/>
        </p:xfrm>
        <a:graphic>
          <a:graphicData uri="http://schemas.openxmlformats.org/drawingml/2006/table">
            <a:tbl>
              <a:tblPr/>
              <a:tblGrid>
                <a:gridCol w="4432554">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466030">
                <a:tc>
                  <a:txBody>
                    <a:bodyPr/>
                    <a:lstStyle/>
                    <a:p>
                      <a:pPr marL="0" indent="0">
                        <a:lnSpc>
                          <a:spcPts val="2380"/>
                        </a:lnSpc>
                        <a:buNone/>
                      </a:pPr>
                      <a:r>
                        <a:rPr lang="en-US" sz="1700" b="1" dirty="0">
                          <a:solidFill>
                            <a:srgbClr val="1C1A16"/>
                          </a:solidFill>
                          <a:latin typeface="Public Sans" pitchFamily="34" charset="0"/>
                          <a:ea typeface="Public Sans" pitchFamily="34" charset="-122"/>
                          <a:cs typeface="Public Sans" pitchFamily="34" charset="-120"/>
                        </a:rPr>
                        <a:t>Method</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B9B5AC"/>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B9B5AC"/>
                      </a:solidFill>
                      <a:prstDash val="solid"/>
                      <a:round/>
                      <a:headEnd type="none" w="med" len="med"/>
                      <a:tailEnd type="none" w="med" len="med"/>
                    </a:lnB>
                    <a:solidFill>
                      <a:srgbClr val="E8E3D7"/>
                    </a:solidFill>
                  </a:tcPr>
                </a:tc>
                <a:tc>
                  <a:txBody>
                    <a:bodyPr/>
                    <a:lstStyle/>
                    <a:p>
                      <a:pPr marL="0" indent="0" algn="r">
                        <a:lnSpc>
                          <a:spcPts val="2380"/>
                        </a:lnSpc>
                        <a:buNone/>
                      </a:pPr>
                      <a:r>
                        <a:rPr lang="en-US" sz="1700" b="1" dirty="0">
                          <a:solidFill>
                            <a:srgbClr val="1C1A16"/>
                          </a:solidFill>
                          <a:latin typeface="Public Sans" pitchFamily="34" charset="0"/>
                          <a:ea typeface="Public Sans" pitchFamily="34" charset="-122"/>
                          <a:cs typeface="Public Sans" pitchFamily="34" charset="-120"/>
                        </a:rPr>
                        <a:t>Best value f</a:t>
                      </a:r>
                      <a:endParaRPr lang="en-US" sz="1700" dirty="0">
                        <a:latin typeface="Public Sans" charset="0"/>
                        <a:ea typeface="Public Sans" charset="0"/>
                        <a:cs typeface="Public Sans" charset="0"/>
                      </a:endParaRPr>
                    </a:p>
                  </a:txBody>
                  <a:tcPr marL="75565" marR="75565" marT="75565" marB="75565">
                    <a:lnL w="12700" cap="flat" cmpd="sng" algn="ctr">
                      <a:solidFill>
                        <a:srgbClr val="B9B5AC"/>
                      </a:solidFill>
                      <a:prstDash val="solid"/>
                      <a:round/>
                      <a:headEnd type="none" w="med" len="med"/>
                      <a:tailEnd type="none" w="med" len="med"/>
                    </a:lnL>
                    <a:lnR w="12700" cap="flat" cmpd="sng" algn="ctr">
                      <a:solidFill>
                        <a:srgbClr val="B9B5AC"/>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B9B5AC"/>
                      </a:solidFill>
                      <a:prstDash val="solid"/>
                      <a:round/>
                      <a:headEnd type="none" w="med" len="med"/>
                      <a:tailEnd type="none" w="med" len="med"/>
                    </a:lnB>
                    <a:solidFill>
                      <a:srgbClr val="E8E3D7"/>
                    </a:solidFill>
                  </a:tcPr>
                </a:tc>
                <a:tc>
                  <a:txBody>
                    <a:bodyPr/>
                    <a:lstStyle/>
                    <a:p>
                      <a:pPr marL="0" indent="0">
                        <a:lnSpc>
                          <a:spcPts val="2380"/>
                        </a:lnSpc>
                        <a:buNone/>
                      </a:pPr>
                      <a:r>
                        <a:rPr lang="en-US" sz="1700" b="1" dirty="0">
                          <a:solidFill>
                            <a:srgbClr val="1C1A16"/>
                          </a:solidFill>
                          <a:latin typeface="Public Sans" pitchFamily="34" charset="0"/>
                          <a:ea typeface="Public Sans" pitchFamily="34" charset="-122"/>
                          <a:cs typeface="Public Sans" pitchFamily="34" charset="-120"/>
                        </a:rPr>
                        <a:t>Outcome</a:t>
                      </a:r>
                      <a:endParaRPr lang="en-US" sz="1700" dirty="0">
                        <a:latin typeface="Public Sans" charset="0"/>
                        <a:ea typeface="Public Sans" charset="0"/>
                        <a:cs typeface="Public Sans" charset="0"/>
                      </a:endParaRPr>
                    </a:p>
                  </a:txBody>
                  <a:tcPr marL="75565" marR="75565" marT="75565" marB="75565">
                    <a:lnL w="12700" cap="flat" cmpd="sng" algn="ctr">
                      <a:solidFill>
                        <a:srgbClr val="B9B5AC"/>
                      </a:solidFill>
                      <a:prstDash val="solid"/>
                      <a:round/>
                      <a:headEnd type="none" w="med" len="med"/>
                      <a:tailEnd type="none" w="med" len="med"/>
                    </a:lnL>
                    <a:lnR w="12700" cap="flat" cmpd="sng" algn="ctr">
                      <a:solidFill>
                        <a:srgbClr val="B9B5AC"/>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B9B5AC"/>
                      </a:solidFill>
                      <a:prstDash val="solid"/>
                      <a:round/>
                      <a:headEnd type="none" w="med" len="med"/>
                      <a:tailEnd type="none" w="med" len="med"/>
                    </a:lnB>
                    <a:solidFill>
                      <a:srgbClr val="E8E3D7"/>
                    </a:solidFill>
                  </a:tcPr>
                </a:tc>
                <a:extLst>
                  <a:ext uri="{0D108BD9-81ED-4DB2-BD59-A6C34878D82A}">
                    <a16:rowId xmlns:a16="http://schemas.microsoft.com/office/drawing/2014/main" val="10000"/>
                  </a:ext>
                </a:extLst>
              </a:tr>
              <a:tr h="466030">
                <a:tc>
                  <a:txBody>
                    <a:bodyPr/>
                    <a:lstStyle/>
                    <a:p>
                      <a:pPr marL="0" indent="0">
                        <a:lnSpc>
                          <a:spcPts val="2380"/>
                        </a:lnSpc>
                        <a:buNone/>
                      </a:pPr>
                      <a:r>
                        <a:rPr lang="en-US" sz="1700" dirty="0">
                          <a:solidFill>
                            <a:srgbClr val="1C1A16"/>
                          </a:solidFill>
                          <a:latin typeface="Public Sans" pitchFamily="34" charset="0"/>
                          <a:ea typeface="Public Sans" pitchFamily="34" charset="-122"/>
                          <a:cs typeface="Public Sans" pitchFamily="34" charset="-120"/>
                        </a:rPr>
                        <a:t>ABC, 20 cycles</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B9B5AC"/>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380"/>
                        </a:lnSpc>
                        <a:buNone/>
                      </a:pPr>
                      <a:r>
                        <a:rPr lang="en-US" sz="1700" dirty="0">
                          <a:solidFill>
                            <a:srgbClr val="1C1A16"/>
                          </a:solidFill>
                          <a:latin typeface="Public Sans" pitchFamily="34" charset="0"/>
                          <a:ea typeface="Public Sans" pitchFamily="34" charset="-122"/>
                          <a:cs typeface="Public Sans" pitchFamily="34" charset="-120"/>
                        </a:rPr>
                        <a:t>0.00049</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B9B5AC"/>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nSpc>
                          <a:spcPts val="2380"/>
                        </a:lnSpc>
                        <a:buNone/>
                      </a:pPr>
                      <a:r>
                        <a:rPr lang="en-US" sz="1700" dirty="0">
                          <a:solidFill>
                            <a:srgbClr val="1C1A16"/>
                          </a:solidFill>
                          <a:latin typeface="Public Sans" pitchFamily="34" charset="0"/>
                          <a:ea typeface="Public Sans" pitchFamily="34" charset="-122"/>
                          <a:cs typeface="Public Sans" pitchFamily="34" charset="-120"/>
                        </a:rPr>
                        <a:t>Very close to 0</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B9B5AC"/>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1"/>
                  </a:ext>
                </a:extLst>
              </a:tr>
              <a:tr h="466030">
                <a:tc>
                  <a:txBody>
                    <a:bodyPr/>
                    <a:lstStyle/>
                    <a:p>
                      <a:pPr marL="0" indent="0">
                        <a:lnSpc>
                          <a:spcPts val="2380"/>
                        </a:lnSpc>
                        <a:buNone/>
                      </a:pPr>
                      <a:r>
                        <a:rPr lang="en-US" sz="1700" dirty="0">
                          <a:solidFill>
                            <a:srgbClr val="1C1A16"/>
                          </a:solidFill>
                          <a:latin typeface="Public Sans" pitchFamily="34" charset="0"/>
                          <a:ea typeface="Public Sans" pitchFamily="34" charset="-122"/>
                          <a:cs typeface="Public Sans" pitchFamily="34" charset="-120"/>
                        </a:rPr>
                        <a:t>ABC, 25 cycles</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380"/>
                        </a:lnSpc>
                        <a:buNone/>
                      </a:pPr>
                      <a:r>
                        <a:rPr lang="en-US" sz="1700" dirty="0">
                          <a:solidFill>
                            <a:srgbClr val="1C1A16"/>
                          </a:solidFill>
                          <a:latin typeface="Public Sans" pitchFamily="34" charset="0"/>
                          <a:ea typeface="Public Sans" pitchFamily="34" charset="-122"/>
                          <a:cs typeface="Public Sans" pitchFamily="34" charset="-120"/>
                        </a:rPr>
                        <a:t>0.00013</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nSpc>
                          <a:spcPts val="2380"/>
                        </a:lnSpc>
                        <a:buNone/>
                      </a:pPr>
                      <a:r>
                        <a:rPr lang="en-US" sz="1700" dirty="0">
                          <a:solidFill>
                            <a:srgbClr val="1C1A16"/>
                          </a:solidFill>
                          <a:latin typeface="Public Sans" pitchFamily="34" charset="0"/>
                          <a:ea typeface="Public Sans" pitchFamily="34" charset="-122"/>
                          <a:cs typeface="Public Sans" pitchFamily="34" charset="-120"/>
                        </a:rPr>
                        <a:t>Closer still</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2"/>
                  </a:ext>
                </a:extLst>
              </a:tr>
              <a:tr h="466030">
                <a:tc>
                  <a:txBody>
                    <a:bodyPr/>
                    <a:lstStyle/>
                    <a:p>
                      <a:pPr marL="0" indent="0">
                        <a:lnSpc>
                          <a:spcPts val="2380"/>
                        </a:lnSpc>
                        <a:buNone/>
                      </a:pPr>
                      <a:r>
                        <a:rPr lang="en-US" sz="1700" dirty="0">
                          <a:solidFill>
                            <a:srgbClr val="1C1A16"/>
                          </a:solidFill>
                          <a:latin typeface="Public Sans" pitchFamily="34" charset="0"/>
                          <a:ea typeface="Public Sans" pitchFamily="34" charset="-122"/>
                          <a:cs typeface="Public Sans" pitchFamily="34" charset="-120"/>
                        </a:rPr>
                        <a:t>ABC, full run (52 cycles)</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380"/>
                        </a:lnSpc>
                        <a:buNone/>
                      </a:pPr>
                      <a:r>
                        <a:rPr lang="en-US" sz="1700" dirty="0">
                          <a:solidFill>
                            <a:srgbClr val="1C1A16"/>
                          </a:solidFill>
                          <a:latin typeface="Public Sans" pitchFamily="34" charset="0"/>
                          <a:ea typeface="Public Sans" pitchFamily="34" charset="-122"/>
                          <a:cs typeface="Public Sans" pitchFamily="34" charset="-120"/>
                        </a:rPr>
                        <a:t>0.00000034</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nSpc>
                          <a:spcPts val="2380"/>
                        </a:lnSpc>
                        <a:buNone/>
                      </a:pPr>
                      <a:r>
                        <a:rPr lang="en-US" sz="1700" dirty="0">
                          <a:solidFill>
                            <a:srgbClr val="1C1A16"/>
                          </a:solidFill>
                          <a:latin typeface="Public Sans" pitchFamily="34" charset="0"/>
                          <a:ea typeface="Public Sans" pitchFamily="34" charset="-122"/>
                          <a:cs typeface="Public Sans" pitchFamily="34" charset="-120"/>
                        </a:rPr>
                        <a:t>Converged</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3"/>
                  </a:ext>
                </a:extLst>
              </a:tr>
              <a:tr h="466030">
                <a:tc>
                  <a:txBody>
                    <a:bodyPr/>
                    <a:lstStyle/>
                    <a:p>
                      <a:pPr marL="0" indent="0">
                        <a:lnSpc>
                          <a:spcPts val="2380"/>
                        </a:lnSpc>
                        <a:buNone/>
                      </a:pPr>
                      <a:r>
                        <a:rPr lang="en-US" sz="1700" dirty="0">
                          <a:solidFill>
                            <a:srgbClr val="1C1A16"/>
                          </a:solidFill>
                          <a:latin typeface="Public Sans" pitchFamily="34" charset="0"/>
                          <a:ea typeface="Public Sans" pitchFamily="34" charset="-122"/>
                          <a:cs typeface="Public Sans" pitchFamily="34" charset="-120"/>
                        </a:rPr>
                        <a:t>Nelder-Mead from (4, −4)</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gn="r">
                        <a:lnSpc>
                          <a:spcPts val="2380"/>
                        </a:lnSpc>
                        <a:buNone/>
                      </a:pPr>
                      <a:r>
                        <a:rPr lang="en-US" sz="1700" dirty="0">
                          <a:solidFill>
                            <a:srgbClr val="1C1A16"/>
                          </a:solidFill>
                          <a:latin typeface="Public Sans" pitchFamily="34" charset="0"/>
                          <a:ea typeface="Public Sans" pitchFamily="34" charset="-122"/>
                          <a:cs typeface="Public Sans" pitchFamily="34" charset="-120"/>
                        </a:rPr>
                        <a:t>10.998</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tc>
                  <a:txBody>
                    <a:bodyPr/>
                    <a:lstStyle/>
                    <a:p>
                      <a:pPr marL="0" indent="0">
                        <a:lnSpc>
                          <a:spcPts val="2380"/>
                        </a:lnSpc>
                        <a:buNone/>
                      </a:pPr>
                      <a:r>
                        <a:rPr lang="en-US" sz="1700" dirty="0">
                          <a:solidFill>
                            <a:srgbClr val="1C1A16"/>
                          </a:solidFill>
                          <a:latin typeface="Public Sans" pitchFamily="34" charset="0"/>
                          <a:ea typeface="Public Sans" pitchFamily="34" charset="-122"/>
                          <a:cs typeface="Public Sans" pitchFamily="34" charset="-120"/>
                        </a:rPr>
                        <a:t>Stuck in a local minimum</a:t>
                      </a:r>
                      <a:endParaRPr lang="en-US" sz="1700" dirty="0">
                        <a:latin typeface="Public Sans" charset="0"/>
                        <a:ea typeface="Public Sans" charset="0"/>
                        <a:cs typeface="Public Sans" charset="0"/>
                      </a:endParaRPr>
                    </a:p>
                  </a:txBody>
                  <a:tcPr marL="75565" marR="75565" marT="75565" marB="75565">
                    <a:lnL w="12700" cap="flat" cmpd="sng" algn="ctr">
                      <a:solidFill>
                        <a:srgbClr val="C7C4B9"/>
                      </a:solidFill>
                      <a:prstDash val="solid"/>
                      <a:round/>
                      <a:headEnd type="none" w="med" len="med"/>
                      <a:tailEnd type="none" w="med" len="med"/>
                    </a:lnL>
                    <a:lnR w="12700" cap="flat" cmpd="sng" algn="ctr">
                      <a:solidFill>
                        <a:srgbClr val="C7C4B9"/>
                      </a:solidFill>
                      <a:prstDash val="solid"/>
                      <a:round/>
                      <a:headEnd type="none" w="med" len="med"/>
                      <a:tailEnd type="none" w="med" len="med"/>
                    </a:lnR>
                    <a:lnT w="12700" cap="flat" cmpd="sng" algn="ctr">
                      <a:solidFill>
                        <a:srgbClr val="C7C4B9"/>
                      </a:solidFill>
                      <a:prstDash val="solid"/>
                      <a:round/>
                      <a:headEnd type="none" w="med" len="med"/>
                      <a:tailEnd type="none" w="med" len="med"/>
                    </a:lnT>
                    <a:lnB w="12700" cap="flat" cmpd="sng" algn="ctr">
                      <a:solidFill>
                        <a:srgbClr val="C7C4B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519563"/>
            <a:ext cx="1088339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82D"/>
                </a:solidFill>
                <a:latin typeface="Public Sans" pitchFamily="34" charset="0"/>
                <a:ea typeface="Public Sans" pitchFamily="34" charset="-122"/>
                <a:cs typeface="Public Sans" pitchFamily="34" charset="-120"/>
              </a:rPr>
              <a:t>Same Ackley function and seed 42. Nelder-Mead is a local method: it stays in the basin where it starts, while the bee colony explores the whole range.</a:t>
            </a:r>
            <a:endParaRPr lang="en-US" sz="16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446"/>
                </a:solidFill>
                <a:latin typeface="Public Sans" pitchFamily="34" charset="0"/>
                <a:ea typeface="Public Sans" pitchFamily="34" charset="-122"/>
                <a:cs typeface="Public Sans" pitchFamily="34" charset="-120"/>
              </a:rPr>
              <a:t>Artificial Bee Colony · 2D Ackley</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446"/>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8A5A00"/>
                </a:solidFill>
                <a:latin typeface="Public Sans" pitchFamily="34" charset="0"/>
                <a:ea typeface="Public Sans" pitchFamily="34" charset="-122"/>
                <a:cs typeface="Public Sans" pitchFamily="34" charset="-120"/>
              </a:rPr>
              <a:t>ROBUSTNESS</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C1A16"/>
                </a:solidFill>
                <a:latin typeface="Oswald" pitchFamily="34" charset="0"/>
                <a:ea typeface="Oswald" pitchFamily="34" charset="-122"/>
                <a:cs typeface="Oswald" pitchFamily="34" charset="-120"/>
              </a:rPr>
              <a:t>Not just a lucky seed</a:t>
            </a:r>
            <a:endParaRPr lang="en-US" sz="3800" dirty="0"/>
          </a:p>
        </p:txBody>
      </p:sp>
      <p:sp>
        <p:nvSpPr>
          <p:cNvPr id="4" name="Shape 2"/>
          <p:cNvSpPr/>
          <p:nvPr/>
        </p:nvSpPr>
        <p:spPr>
          <a:xfrm>
            <a:off x="812800" y="1922711"/>
            <a:ext cx="5715000" cy="3568700"/>
          </a:xfrm>
          <a:prstGeom prst="roundRect">
            <a:avLst>
              <a:gd name="adj" fmla="val 2135"/>
            </a:avLst>
          </a:prstGeom>
          <a:solidFill>
            <a:srgbClr val="FFFFFF"/>
          </a:solidFill>
          <a:ln/>
        </p:spPr>
      </p:sp>
      <p:pic>
        <p:nvPicPr>
          <p:cNvPr id="5" name="Image 0" descr="Thirty convergence curves on a log scale, all dropping below the stop threshold"/>
          <p:cNvPicPr>
            <a:picLocks noChangeAspect="1"/>
          </p:cNvPicPr>
          <p:nvPr/>
        </p:nvPicPr>
        <p:blipFill>
          <a:blip r:embed="rId3"/>
          <a:srcRect l="-179" r="-179"/>
          <a:stretch/>
        </p:blipFill>
        <p:spPr>
          <a:xfrm>
            <a:off x="825500" y="1935411"/>
            <a:ext cx="5689600" cy="3543300"/>
          </a:xfrm>
          <a:prstGeom prst="roundRect">
            <a:avLst>
              <a:gd name="adj" fmla="val 1792"/>
            </a:avLst>
          </a:prstGeom>
        </p:spPr>
      </p:pic>
      <p:sp>
        <p:nvSpPr>
          <p:cNvPr id="6" name="Shape 3"/>
          <p:cNvSpPr/>
          <p:nvPr/>
        </p:nvSpPr>
        <p:spPr>
          <a:xfrm>
            <a:off x="819150" y="1929061"/>
            <a:ext cx="5702300" cy="3556000"/>
          </a:xfrm>
          <a:prstGeom prst="roundRect">
            <a:avLst>
              <a:gd name="adj" fmla="val 1964"/>
            </a:avLst>
          </a:prstGeom>
          <a:noFill/>
          <a:ln w="12700">
            <a:solidFill>
              <a:srgbClr val="E6DCC0"/>
            </a:solidFill>
            <a:prstDash val="solid"/>
          </a:ln>
        </p:spPr>
      </p:sp>
      <p:sp>
        <p:nvSpPr>
          <p:cNvPr id="7" name="Text 4"/>
          <p:cNvSpPr/>
          <p:nvPr/>
        </p:nvSpPr>
        <p:spPr>
          <a:xfrm>
            <a:off x="6832600" y="2118320"/>
            <a:ext cx="4682998"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8A5A00"/>
                </a:solidFill>
                <a:latin typeface="Oswald" pitchFamily="34" charset="0"/>
                <a:ea typeface="Oswald" pitchFamily="34" charset="-122"/>
                <a:cs typeface="Oswald" pitchFamily="34" charset="-120"/>
              </a:rPr>
              <a:t>30 / 30</a:t>
            </a:r>
            <a:endParaRPr lang="en-US" sz="4400" dirty="0"/>
          </a:p>
        </p:txBody>
      </p:sp>
      <p:sp>
        <p:nvSpPr>
          <p:cNvPr id="8" name="Text 5"/>
          <p:cNvSpPr/>
          <p:nvPr/>
        </p:nvSpPr>
        <p:spPr>
          <a:xfrm>
            <a:off x="6832600" y="2758380"/>
            <a:ext cx="468299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seeds converged to f ≤ 1e-6</a:t>
            </a:r>
            <a:endParaRPr lang="en-US" sz="1500" dirty="0"/>
          </a:p>
        </p:txBody>
      </p:sp>
      <p:sp>
        <p:nvSpPr>
          <p:cNvPr id="9" name="Text 6"/>
          <p:cNvSpPr/>
          <p:nvPr/>
        </p:nvSpPr>
        <p:spPr>
          <a:xfrm>
            <a:off x="6832600" y="3253680"/>
            <a:ext cx="4682998"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8A5A00"/>
                </a:solidFill>
                <a:latin typeface="Oswald" pitchFamily="34" charset="0"/>
                <a:ea typeface="Oswald" pitchFamily="34" charset="-122"/>
                <a:cs typeface="Oswald" pitchFamily="34" charset="-120"/>
              </a:rPr>
              <a:t>44.8</a:t>
            </a:r>
            <a:endParaRPr lang="en-US" sz="4400" dirty="0"/>
          </a:p>
        </p:txBody>
      </p:sp>
      <p:sp>
        <p:nvSpPr>
          <p:cNvPr id="10" name="Text 7"/>
          <p:cNvSpPr/>
          <p:nvPr/>
        </p:nvSpPr>
        <p:spPr>
          <a:xfrm>
            <a:off x="6832600" y="3893741"/>
            <a:ext cx="468299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mean cycles used (range 32 to 52)</a:t>
            </a:r>
            <a:endParaRPr lang="en-US" sz="1500" dirty="0"/>
          </a:p>
        </p:txBody>
      </p:sp>
      <p:sp>
        <p:nvSpPr>
          <p:cNvPr id="11" name="Text 8"/>
          <p:cNvSpPr/>
          <p:nvPr/>
        </p:nvSpPr>
        <p:spPr>
          <a:xfrm>
            <a:off x="6832600" y="4389041"/>
            <a:ext cx="4682998"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8A5A00"/>
                </a:solidFill>
                <a:latin typeface="Oswald" pitchFamily="34" charset="0"/>
                <a:ea typeface="Oswald" pitchFamily="34" charset="-122"/>
                <a:cs typeface="Oswald" pitchFamily="34" charset="-120"/>
              </a:rPr>
              <a:t>9.9e-7</a:t>
            </a:r>
            <a:endParaRPr lang="en-US" sz="4400" dirty="0"/>
          </a:p>
        </p:txBody>
      </p:sp>
      <p:sp>
        <p:nvSpPr>
          <p:cNvPr id="12" name="Text 9"/>
          <p:cNvSpPr/>
          <p:nvPr/>
        </p:nvSpPr>
        <p:spPr>
          <a:xfrm>
            <a:off x="6832600" y="5029101"/>
            <a:ext cx="468299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82D"/>
                </a:solidFill>
                <a:latin typeface="Public Sans" pitchFamily="34" charset="0"/>
                <a:ea typeface="Public Sans" pitchFamily="34" charset="-122"/>
                <a:cs typeface="Public Sans" pitchFamily="34" charset="-120"/>
              </a:rPr>
              <a:t>worst final value over all seeds</a:t>
            </a:r>
            <a:endParaRPr lang="en-US" sz="1500" dirty="0"/>
          </a:p>
        </p:txBody>
      </p:sp>
      <p:sp>
        <p:nvSpPr>
          <p:cNvPr id="13" name="Text 10"/>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446"/>
                </a:solidFill>
                <a:latin typeface="Public Sans" pitchFamily="34" charset="0"/>
                <a:ea typeface="Public Sans" pitchFamily="34" charset="-122"/>
                <a:cs typeface="Public Sans" pitchFamily="34" charset="-120"/>
              </a:rPr>
              <a:t>Artificial Bee Colony · 2D Ackley · seeds 0 to 29</a:t>
            </a:r>
            <a:endParaRPr lang="en-US" sz="1200" dirty="0"/>
          </a:p>
        </p:txBody>
      </p:sp>
      <p:sp>
        <p:nvSpPr>
          <p:cNvPr id="14"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446"/>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1A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2B632"/>
                </a:solidFill>
                <a:latin typeface="Public Sans" pitchFamily="34" charset="0"/>
                <a:ea typeface="Public Sans" pitchFamily="34" charset="-122"/>
                <a:cs typeface="Public Sans" pitchFamily="34" charset="-120"/>
              </a:rPr>
              <a:t>WRAP-UP</a:t>
            </a:r>
            <a:endParaRPr lang="en-US" sz="1400" dirty="0"/>
          </a:p>
        </p:txBody>
      </p:sp>
      <p:sp>
        <p:nvSpPr>
          <p:cNvPr id="3" name="Text 1"/>
          <p:cNvSpPr>
            <a:spLocks noGrp="1"/>
          </p:cNvSpPr>
          <p:nvPr>
            <p:ph type="title"/>
          </p:nvPr>
        </p:nvSpPr>
        <p:spPr>
          <a:xfrm>
            <a:off x="812800" y="113789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FAF5E8"/>
                </a:solidFill>
                <a:latin typeface="Oswald" pitchFamily="34" charset="0"/>
                <a:ea typeface="Oswald" pitchFamily="34" charset="-122"/>
                <a:cs typeface="Oswald" pitchFamily="34" charset="-120"/>
              </a:rPr>
              <a:t>Strengths, limits and uses</a:t>
            </a:r>
            <a:endParaRPr lang="en-US" sz="3800" dirty="0"/>
          </a:p>
        </p:txBody>
      </p:sp>
      <p:sp>
        <p:nvSpPr>
          <p:cNvPr id="4" name="Shape 2"/>
          <p:cNvSpPr/>
          <p:nvPr/>
        </p:nvSpPr>
        <p:spPr>
          <a:xfrm>
            <a:off x="819150" y="1979861"/>
            <a:ext cx="3373934" cy="2694781"/>
          </a:xfrm>
          <a:prstGeom prst="roundRect">
            <a:avLst>
              <a:gd name="adj" fmla="val 4477"/>
            </a:avLst>
          </a:prstGeom>
          <a:solidFill>
            <a:srgbClr val="2A2720"/>
          </a:solidFill>
          <a:ln w="12700">
            <a:solidFill>
              <a:srgbClr val="4A4436"/>
            </a:solidFill>
            <a:prstDash val="solid"/>
          </a:ln>
        </p:spPr>
      </p:sp>
      <p:sp>
        <p:nvSpPr>
          <p:cNvPr id="5" name="Text 3"/>
          <p:cNvSpPr/>
          <p:nvPr/>
        </p:nvSpPr>
        <p:spPr>
          <a:xfrm>
            <a:off x="1079500" y="2240211"/>
            <a:ext cx="2938831"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F2B632"/>
                </a:solidFill>
                <a:latin typeface="Oswald" pitchFamily="34" charset="0"/>
                <a:ea typeface="Oswald" pitchFamily="34" charset="-122"/>
                <a:cs typeface="Oswald" pitchFamily="34" charset="-120"/>
              </a:rPr>
              <a:t>Advantages</a:t>
            </a:r>
            <a:endParaRPr lang="en-US" sz="2400" dirty="0"/>
          </a:p>
        </p:txBody>
      </p:sp>
      <p:sp>
        <p:nvSpPr>
          <p:cNvPr id="6" name="Text 4"/>
          <p:cNvSpPr/>
          <p:nvPr/>
        </p:nvSpPr>
        <p:spPr>
          <a:xfrm>
            <a:off x="1149858" y="2707531"/>
            <a:ext cx="2860853" cy="1163241"/>
          </a:xfrm>
          <a:prstGeom prst="rect">
            <a:avLst/>
          </a:prstGeom>
          <a:noFill/>
          <a:ln/>
        </p:spPr>
        <p:txBody>
          <a:bodyPr wrap="square" lIns="0" tIns="0" rIns="0" bIns="0" rtlCol="0" anchor="t">
            <a:normAutofit/>
          </a:bodyPr>
          <a:lstStyle/>
          <a:p>
            <a:pPr marL="183642" indent="-183642" algn="l">
              <a:lnSpc>
                <a:spcPts val="2240"/>
              </a:lnSpc>
              <a:buSzPct val="100000"/>
              <a:buChar char="•"/>
            </a:pPr>
            <a:r>
              <a:rPr lang="en-US" sz="1600" dirty="0">
                <a:solidFill>
                  <a:srgbClr val="FAF5E8"/>
                </a:solidFill>
                <a:latin typeface="Public Sans" pitchFamily="34" charset="0"/>
                <a:ea typeface="Public Sans" pitchFamily="34" charset="-122"/>
                <a:cs typeface="Public Sans" pitchFamily="34" charset="-120"/>
              </a:rPr>
              <a:t>Few control parameters</a:t>
            </a:r>
            <a:endParaRPr lang="en-US" sz="1600" dirty="0"/>
          </a:p>
          <a:p>
            <a:pPr marL="183642" indent="-183642" algn="l">
              <a:lnSpc>
                <a:spcPts val="2240"/>
              </a:lnSpc>
              <a:buSzPct val="100000"/>
              <a:buChar char="•"/>
            </a:pPr>
            <a:r>
              <a:rPr lang="en-US" sz="1600" dirty="0">
                <a:solidFill>
                  <a:srgbClr val="FAF5E8"/>
                </a:solidFill>
                <a:latin typeface="Public Sans" pitchFamily="34" charset="0"/>
                <a:ea typeface="Public Sans" pitchFamily="34" charset="-122"/>
                <a:cs typeface="Public Sans" pitchFamily="34" charset="-120"/>
              </a:rPr>
              <a:t>Fast convergence</a:t>
            </a:r>
            <a:endParaRPr lang="en-US" sz="1600" dirty="0"/>
          </a:p>
          <a:p>
            <a:pPr marL="183642" indent="-183642" algn="l">
              <a:lnSpc>
                <a:spcPts val="2240"/>
              </a:lnSpc>
              <a:buSzPct val="100000"/>
              <a:buChar char="•"/>
            </a:pPr>
            <a:r>
              <a:rPr lang="en-US" sz="1600" dirty="0">
                <a:solidFill>
                  <a:srgbClr val="FAF5E8"/>
                </a:solidFill>
                <a:latin typeface="Public Sans" pitchFamily="34" charset="0"/>
                <a:ea typeface="Public Sans" pitchFamily="34" charset="-122"/>
                <a:cs typeface="Public Sans" pitchFamily="34" charset="-120"/>
              </a:rPr>
              <a:t>Both exploration and exploitation</a:t>
            </a:r>
            <a:endParaRPr lang="en-US" sz="1600" dirty="0"/>
          </a:p>
        </p:txBody>
      </p:sp>
      <p:sp>
        <p:nvSpPr>
          <p:cNvPr id="7" name="Shape 5"/>
          <p:cNvSpPr/>
          <p:nvPr/>
        </p:nvSpPr>
        <p:spPr>
          <a:xfrm>
            <a:off x="4408984" y="1979861"/>
            <a:ext cx="3373983" cy="2694781"/>
          </a:xfrm>
          <a:prstGeom prst="roundRect">
            <a:avLst>
              <a:gd name="adj" fmla="val 4477"/>
            </a:avLst>
          </a:prstGeom>
          <a:solidFill>
            <a:srgbClr val="2A2720"/>
          </a:solidFill>
          <a:ln w="12700">
            <a:solidFill>
              <a:srgbClr val="4A4436"/>
            </a:solidFill>
            <a:prstDash val="solid"/>
          </a:ln>
        </p:spPr>
      </p:sp>
      <p:sp>
        <p:nvSpPr>
          <p:cNvPr id="8" name="Text 6"/>
          <p:cNvSpPr/>
          <p:nvPr/>
        </p:nvSpPr>
        <p:spPr>
          <a:xfrm>
            <a:off x="4669334" y="2240211"/>
            <a:ext cx="2938882"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F2B632"/>
                </a:solidFill>
                <a:latin typeface="Oswald" pitchFamily="34" charset="0"/>
                <a:ea typeface="Oswald" pitchFamily="34" charset="-122"/>
                <a:cs typeface="Oswald" pitchFamily="34" charset="-120"/>
              </a:rPr>
              <a:t>Limitation</a:t>
            </a:r>
            <a:endParaRPr lang="en-US" sz="2400" dirty="0"/>
          </a:p>
        </p:txBody>
      </p:sp>
      <p:sp>
        <p:nvSpPr>
          <p:cNvPr id="9" name="Text 7"/>
          <p:cNvSpPr/>
          <p:nvPr/>
        </p:nvSpPr>
        <p:spPr>
          <a:xfrm>
            <a:off x="4739692" y="2707531"/>
            <a:ext cx="2860904" cy="594320"/>
          </a:xfrm>
          <a:prstGeom prst="rect">
            <a:avLst/>
          </a:prstGeom>
          <a:noFill/>
          <a:ln/>
        </p:spPr>
        <p:txBody>
          <a:bodyPr wrap="square" lIns="0" tIns="0" rIns="0" bIns="0" rtlCol="0" anchor="t">
            <a:normAutofit/>
          </a:bodyPr>
          <a:lstStyle/>
          <a:p>
            <a:pPr marL="183642" indent="-183642" algn="l">
              <a:lnSpc>
                <a:spcPts val="2240"/>
              </a:lnSpc>
              <a:buSzPct val="100000"/>
              <a:buChar char="•"/>
            </a:pPr>
            <a:r>
              <a:rPr lang="en-US" sz="1600" dirty="0">
                <a:solidFill>
                  <a:srgbClr val="FAF5E8"/>
                </a:solidFill>
                <a:latin typeface="Public Sans" pitchFamily="34" charset="0"/>
                <a:ea typeface="Public Sans" pitchFamily="34" charset="-122"/>
                <a:cs typeface="Public Sans" pitchFamily="34" charset="-120"/>
              </a:rPr>
              <a:t>Search space is limited by the initial solutions</a:t>
            </a:r>
            <a:endParaRPr lang="en-US" sz="1600" dirty="0"/>
          </a:p>
        </p:txBody>
      </p:sp>
      <p:sp>
        <p:nvSpPr>
          <p:cNvPr id="10" name="Shape 8"/>
          <p:cNvSpPr/>
          <p:nvPr/>
        </p:nvSpPr>
        <p:spPr>
          <a:xfrm>
            <a:off x="7998867" y="1979861"/>
            <a:ext cx="3373983" cy="2694781"/>
          </a:xfrm>
          <a:prstGeom prst="roundRect">
            <a:avLst>
              <a:gd name="adj" fmla="val 4477"/>
            </a:avLst>
          </a:prstGeom>
          <a:solidFill>
            <a:srgbClr val="2A2720"/>
          </a:solidFill>
          <a:ln w="12700">
            <a:solidFill>
              <a:srgbClr val="4A4436"/>
            </a:solidFill>
            <a:prstDash val="solid"/>
          </a:ln>
        </p:spPr>
      </p:sp>
      <p:sp>
        <p:nvSpPr>
          <p:cNvPr id="11" name="Text 9"/>
          <p:cNvSpPr/>
          <p:nvPr/>
        </p:nvSpPr>
        <p:spPr>
          <a:xfrm>
            <a:off x="8259217" y="2240211"/>
            <a:ext cx="2938882"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F2B632"/>
                </a:solidFill>
                <a:latin typeface="Oswald" pitchFamily="34" charset="0"/>
                <a:ea typeface="Oswald" pitchFamily="34" charset="-122"/>
                <a:cs typeface="Oswald" pitchFamily="34" charset="-120"/>
              </a:rPr>
              <a:t>Applications</a:t>
            </a:r>
            <a:endParaRPr lang="en-US" sz="2400" dirty="0"/>
          </a:p>
        </p:txBody>
      </p:sp>
      <p:sp>
        <p:nvSpPr>
          <p:cNvPr id="12" name="Text 10"/>
          <p:cNvSpPr/>
          <p:nvPr/>
        </p:nvSpPr>
        <p:spPr>
          <a:xfrm>
            <a:off x="8329575" y="2707531"/>
            <a:ext cx="2860904" cy="1732161"/>
          </a:xfrm>
          <a:prstGeom prst="rect">
            <a:avLst/>
          </a:prstGeom>
          <a:noFill/>
          <a:ln/>
        </p:spPr>
        <p:txBody>
          <a:bodyPr wrap="square" lIns="0" tIns="0" rIns="0" bIns="0" rtlCol="0" anchor="t">
            <a:normAutofit/>
          </a:bodyPr>
          <a:lstStyle/>
          <a:p>
            <a:pPr marL="183642" indent="-183642" algn="l">
              <a:lnSpc>
                <a:spcPts val="2240"/>
              </a:lnSpc>
              <a:buSzPct val="100000"/>
              <a:buChar char="•"/>
            </a:pPr>
            <a:r>
              <a:rPr lang="en-US" sz="1600" dirty="0">
                <a:solidFill>
                  <a:srgbClr val="FAF5E8"/>
                </a:solidFill>
                <a:latin typeface="Public Sans" pitchFamily="34" charset="0"/>
                <a:ea typeface="Public Sans" pitchFamily="34" charset="-122"/>
                <a:cs typeface="Public Sans" pitchFamily="34" charset="-120"/>
              </a:rPr>
              <a:t>Welded beam and coil spring design</a:t>
            </a:r>
            <a:endParaRPr lang="en-US" sz="1600" dirty="0"/>
          </a:p>
          <a:p>
            <a:pPr marL="183642" indent="-183642" algn="l">
              <a:lnSpc>
                <a:spcPts val="2240"/>
              </a:lnSpc>
              <a:buSzPct val="100000"/>
              <a:buChar char="•"/>
            </a:pPr>
            <a:r>
              <a:rPr lang="en-US" sz="1600" dirty="0">
                <a:solidFill>
                  <a:srgbClr val="FAF5E8"/>
                </a:solidFill>
                <a:latin typeface="Public Sans" pitchFamily="34" charset="0"/>
                <a:ea typeface="Public Sans" pitchFamily="34" charset="-122"/>
                <a:cs typeface="Public Sans" pitchFamily="34" charset="-120"/>
              </a:rPr>
              <a:t>Digital filter optimization</a:t>
            </a:r>
            <a:endParaRPr lang="en-US" sz="1600" dirty="0"/>
          </a:p>
          <a:p>
            <a:pPr marL="183642" indent="-183642" algn="l">
              <a:lnSpc>
                <a:spcPts val="2240"/>
              </a:lnSpc>
              <a:buSzPct val="100000"/>
              <a:buChar char="•"/>
            </a:pPr>
            <a:r>
              <a:rPr lang="en-US" sz="1600" dirty="0">
                <a:solidFill>
                  <a:srgbClr val="FAF5E8"/>
                </a:solidFill>
                <a:latin typeface="Public Sans" pitchFamily="34" charset="0"/>
                <a:ea typeface="Public Sans" pitchFamily="34" charset="-122"/>
                <a:cs typeface="Public Sans" pitchFamily="34" charset="-120"/>
              </a:rPr>
              <a:t>Fuzzy control design</a:t>
            </a:r>
            <a:endParaRPr lang="en-US" sz="1600" dirty="0"/>
          </a:p>
          <a:p>
            <a:pPr marL="183642" indent="-183642" algn="l">
              <a:lnSpc>
                <a:spcPts val="2240"/>
              </a:lnSpc>
              <a:buSzPct val="100000"/>
              <a:buChar char="•"/>
            </a:pPr>
            <a:r>
              <a:rPr lang="en-US" sz="1600" dirty="0">
                <a:solidFill>
                  <a:srgbClr val="FAF5E8"/>
                </a:solidFill>
                <a:latin typeface="Public Sans" pitchFamily="34" charset="0"/>
                <a:ea typeface="Public Sans" pitchFamily="34" charset="-122"/>
                <a:cs typeface="Public Sans" pitchFamily="34" charset="-120"/>
              </a:rPr>
              <a:t>K-means data clustering</a:t>
            </a:r>
            <a:endParaRPr lang="en-US" sz="1600" dirty="0"/>
          </a:p>
          <a:p>
            <a:pPr marL="183642" indent="-183642" algn="l">
              <a:lnSpc>
                <a:spcPts val="2240"/>
              </a:lnSpc>
              <a:buSzPct val="100000"/>
              <a:buChar char="•"/>
            </a:pPr>
            <a:r>
              <a:rPr lang="en-US" sz="1600" dirty="0">
                <a:solidFill>
                  <a:srgbClr val="FAF5E8"/>
                </a:solidFill>
                <a:latin typeface="Public Sans" pitchFamily="34" charset="0"/>
                <a:ea typeface="Public Sans" pitchFamily="34" charset="-122"/>
                <a:cs typeface="Public Sans" pitchFamily="34" charset="-120"/>
              </a:rPr>
              <a:t>Robot control</a:t>
            </a:r>
            <a:endParaRPr lang="en-US" sz="16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AE"/>
                </a:solidFill>
                <a:latin typeface="Public Sans" pitchFamily="34" charset="0"/>
                <a:ea typeface="Public Sans" pitchFamily="34" charset="-122"/>
                <a:cs typeface="Public Sans" pitchFamily="34" charset="-120"/>
              </a:rPr>
              <a:t>Artificial Bee Colony · 2D Ackley</a:t>
            </a:r>
            <a:endParaRPr lang="en-US" sz="1200" dirty="0"/>
          </a:p>
        </p:txBody>
      </p:sp>
      <p:sp>
        <p:nvSpPr>
          <p:cNvPr id="14"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FC6AE"/>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theme/theme1.xml><?xml version="1.0" encoding="utf-8"?>
<a:theme xmlns:a="http://schemas.openxmlformats.org/drawingml/2006/main" name="ABC Ackley Presentation">
  <a:themeElements>
    <a:clrScheme name="ABC Ackley Presentation">
      <a:dk1>
        <a:srgbClr val="1C1A16"/>
      </a:dk1>
      <a:lt1>
        <a:srgbClr val="FAF5E8"/>
      </a:lt1>
      <a:dk2>
        <a:srgbClr val="54514B"/>
      </a:dk2>
      <a:lt2>
        <a:srgbClr val="E4DFD3"/>
      </a:lt2>
      <a:accent1>
        <a:srgbClr val="8A5A00"/>
      </a:accent1>
      <a:accent2>
        <a:srgbClr val="F2B632"/>
      </a:accent2>
      <a:accent3>
        <a:srgbClr val="3D382D"/>
      </a:accent3>
      <a:accent4>
        <a:srgbClr val="5A5446"/>
      </a:accent4>
      <a:accent5>
        <a:srgbClr val="CFC6AE"/>
      </a:accent5>
      <a:accent6>
        <a:srgbClr val="9AA0A6"/>
      </a:accent6>
      <a:hlink>
        <a:srgbClr val="0563C1"/>
      </a:hlink>
      <a:folHlink>
        <a:srgbClr val="954F72"/>
      </a:folHlink>
    </a:clrScheme>
    <a:fontScheme name="ABC Ackley Presentation">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1659</Words>
  <Application>Microsoft Office PowerPoint</Application>
  <PresentationFormat>Widescreen</PresentationFormat>
  <Paragraphs>181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Oswald</vt:lpstr>
      <vt:lpstr>Public Sans</vt:lpstr>
      <vt:lpstr>ABC Ackley Presentation</vt:lpstr>
      <vt:lpstr>Artificial Bee Colony</vt:lpstr>
      <vt:lpstr>Minimize the 2D Ackley function</vt:lpstr>
      <vt:lpstr>Three groups of bees</vt:lpstr>
      <vt:lpstr>Four steps</vt:lpstr>
      <vt:lpstr>Parameters and initialization</vt:lpstr>
      <vt:lpstr>Employed and onlooker bees</vt:lpstr>
      <vt:lpstr>Scouts, memory and stopping</vt:lpstr>
      <vt:lpstr>The swarm moves to (0, 0)</vt:lpstr>
      <vt:lpstr>Convergence to the global minimum</vt:lpstr>
      <vt:lpstr>ABC against a classical optimizer</vt:lpstr>
      <vt:lpstr>Not just a lucky seed</vt:lpstr>
      <vt:lpstr>Strengths, limits and uses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ABC Ackley Presentation</dc:title>
  <dc:subject/>
  <dc:creator/>
  <cp:lastModifiedBy>MD. Abu Hasanat Soykot</cp:lastModifiedBy>
  <cp:revision>2</cp:revision>
  <dcterms:created xsi:type="dcterms:W3CDTF">2026-10-03T11:47:27Z</dcterms:created>
  <dcterms:modified xsi:type="dcterms:W3CDTF">2026-10-03T15:46:46Z</dcterms:modified>
</cp:coreProperties>
</file>